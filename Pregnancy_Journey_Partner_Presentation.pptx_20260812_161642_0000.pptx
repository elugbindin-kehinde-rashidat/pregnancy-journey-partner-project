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Calibri (MS) Bold" charset="1" panose="020F0702030404030204"/>
      <p:regular r:id="rId14"/>
    </p:embeddedFont>
    <p:embeddedFont>
      <p:font typeface="Calibri (MS)" charset="1" panose="020F0502020204030204"/>
      <p:regular r:id="rId15"/>
    </p:embeddedFont>
    <p:embeddedFont>
      <p:font typeface="Canva Sans Bold" charset="1" panose="020B0803030501040103"/>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https://github.com/Elugbindin-Kehinde-Rashidat/data-science-mentorship-project"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D33078"/>
            </a:solidFill>
          </p:spPr>
        </p:sp>
      </p:grpSp>
      <p:grpSp>
        <p:nvGrpSpPr>
          <p:cNvPr name="Group 4" id="4"/>
          <p:cNvGrpSpPr/>
          <p:nvPr/>
        </p:nvGrpSpPr>
        <p:grpSpPr>
          <a:xfrm rot="0">
            <a:off x="0" y="0"/>
            <a:ext cx="18301840" cy="164725"/>
            <a:chOff x="0" y="0"/>
            <a:chExt cx="24402453" cy="219634"/>
          </a:xfrm>
        </p:grpSpPr>
        <p:sp>
          <p:nvSpPr>
            <p:cNvPr name="Freeform 5" id="5"/>
            <p:cNvSpPr/>
            <p:nvPr/>
          </p:nvSpPr>
          <p:spPr>
            <a:xfrm flipH="false" flipV="false" rot="0">
              <a:off x="0" y="0"/>
              <a:ext cx="24402414" cy="219583"/>
            </a:xfrm>
            <a:custGeom>
              <a:avLst/>
              <a:gdLst/>
              <a:ahLst/>
              <a:cxnLst/>
              <a:rect r="r" b="b" t="t" l="l"/>
              <a:pathLst>
                <a:path h="219583" w="24402414">
                  <a:moveTo>
                    <a:pt x="0" y="0"/>
                  </a:moveTo>
                  <a:lnTo>
                    <a:pt x="24402414" y="0"/>
                  </a:lnTo>
                  <a:lnTo>
                    <a:pt x="24402414" y="219583"/>
                  </a:lnTo>
                  <a:lnTo>
                    <a:pt x="0" y="219583"/>
                  </a:lnTo>
                  <a:close/>
                </a:path>
              </a:pathLst>
            </a:custGeom>
            <a:solidFill>
              <a:srgbClr val="D33078"/>
            </a:solidFill>
          </p:spPr>
        </p:sp>
      </p:grpSp>
      <p:sp>
        <p:nvSpPr>
          <p:cNvPr name="TextBox 6" id="6"/>
          <p:cNvSpPr txBox="true"/>
          <p:nvPr/>
        </p:nvSpPr>
        <p:spPr>
          <a:xfrm rot="0">
            <a:off x="537530" y="419100"/>
            <a:ext cx="17353158" cy="1085850"/>
          </a:xfrm>
          <a:prstGeom prst="rect">
            <a:avLst/>
          </a:prstGeom>
        </p:spPr>
        <p:txBody>
          <a:bodyPr anchor="t" rtlCol="false" tIns="0" lIns="0" bIns="0" rIns="0">
            <a:spAutoFit/>
          </a:bodyPr>
          <a:lstStyle/>
          <a:p>
            <a:pPr algn="ctr">
              <a:lnSpc>
                <a:spcPts val="7565"/>
              </a:lnSpc>
            </a:pPr>
            <a:r>
              <a:rPr lang="en-US" b="true" sz="6304">
                <a:solidFill>
                  <a:srgbClr val="FFFFFF"/>
                </a:solidFill>
                <a:latin typeface="Calibri (MS) Bold"/>
                <a:ea typeface="Calibri (MS) Bold"/>
                <a:cs typeface="Calibri (MS) Bold"/>
                <a:sym typeface="Calibri (MS) Bold"/>
              </a:rPr>
              <a:t>Deeptech x WESOnline Mentorship Program </a:t>
            </a:r>
          </a:p>
        </p:txBody>
      </p:sp>
      <p:grpSp>
        <p:nvGrpSpPr>
          <p:cNvPr name="Group 7" id="7"/>
          <p:cNvGrpSpPr/>
          <p:nvPr/>
        </p:nvGrpSpPr>
        <p:grpSpPr>
          <a:xfrm rot="0">
            <a:off x="1529958" y="4296008"/>
            <a:ext cx="14907797" cy="2114085"/>
            <a:chOff x="0" y="0"/>
            <a:chExt cx="19877062" cy="2818779"/>
          </a:xfrm>
        </p:grpSpPr>
        <p:grpSp>
          <p:nvGrpSpPr>
            <p:cNvPr name="Group 8" id="8"/>
            <p:cNvGrpSpPr/>
            <p:nvPr/>
          </p:nvGrpSpPr>
          <p:grpSpPr>
            <a:xfrm rot="0">
              <a:off x="0" y="0"/>
              <a:ext cx="9536265" cy="2818779"/>
              <a:chOff x="0" y="0"/>
              <a:chExt cx="9536265" cy="2818779"/>
            </a:xfrm>
          </p:grpSpPr>
          <p:sp>
            <p:nvSpPr>
              <p:cNvPr name="Freeform 9" id="9"/>
              <p:cNvSpPr/>
              <p:nvPr/>
            </p:nvSpPr>
            <p:spPr>
              <a:xfrm flipH="false" flipV="false" rot="0">
                <a:off x="0" y="0"/>
                <a:ext cx="9536302" cy="2818830"/>
              </a:xfrm>
              <a:custGeom>
                <a:avLst/>
                <a:gdLst/>
                <a:ahLst/>
                <a:cxnLst/>
                <a:rect r="r" b="b" t="t" l="l"/>
                <a:pathLst>
                  <a:path h="2818830" w="9536302">
                    <a:moveTo>
                      <a:pt x="0" y="469805"/>
                    </a:moveTo>
                    <a:cubicBezTo>
                      <a:pt x="0" y="210334"/>
                      <a:pt x="213106" y="0"/>
                      <a:pt x="475996" y="0"/>
                    </a:cubicBezTo>
                    <a:lnTo>
                      <a:pt x="9060307" y="0"/>
                    </a:lnTo>
                    <a:cubicBezTo>
                      <a:pt x="9323197" y="0"/>
                      <a:pt x="9536302" y="210334"/>
                      <a:pt x="9536302" y="469805"/>
                    </a:cubicBezTo>
                    <a:lnTo>
                      <a:pt x="9536302" y="2349025"/>
                    </a:lnTo>
                    <a:cubicBezTo>
                      <a:pt x="9536302" y="2608495"/>
                      <a:pt x="9323197" y="2818830"/>
                      <a:pt x="9060307" y="2818830"/>
                    </a:cubicBezTo>
                    <a:lnTo>
                      <a:pt x="475996" y="2818830"/>
                    </a:lnTo>
                    <a:cubicBezTo>
                      <a:pt x="213106" y="2818830"/>
                      <a:pt x="0" y="2608495"/>
                      <a:pt x="0" y="2349025"/>
                    </a:cubicBezTo>
                    <a:close/>
                  </a:path>
                </a:pathLst>
              </a:custGeom>
              <a:solidFill>
                <a:srgbClr val="FFFFFF"/>
              </a:solidFill>
              <a:ln w="14299" cap="sq">
                <a:solidFill>
                  <a:srgbClr val="E6DCED"/>
                </a:solidFill>
                <a:prstDash val="solid"/>
                <a:miter/>
              </a:ln>
            </p:spPr>
          </p:sp>
        </p:grpSp>
        <p:sp>
          <p:nvSpPr>
            <p:cNvPr name="TextBox 10" id="10"/>
            <p:cNvSpPr txBox="true"/>
            <p:nvPr/>
          </p:nvSpPr>
          <p:spPr>
            <a:xfrm rot="0">
              <a:off x="67859" y="171769"/>
              <a:ext cx="9400546" cy="676275"/>
            </a:xfrm>
            <a:prstGeom prst="rect">
              <a:avLst/>
            </a:prstGeom>
          </p:spPr>
          <p:txBody>
            <a:bodyPr anchor="t" rtlCol="false" tIns="0" lIns="0" bIns="0" rIns="0">
              <a:spAutoFit/>
            </a:bodyPr>
            <a:lstStyle/>
            <a:p>
              <a:pPr algn="ctr">
                <a:lnSpc>
                  <a:spcPts val="3600"/>
                </a:lnSpc>
              </a:pPr>
              <a:r>
                <a:rPr lang="en-US" sz="3000" b="true">
                  <a:solidFill>
                    <a:srgbClr val="D33078"/>
                  </a:solidFill>
                  <a:latin typeface="Calibri (MS) Bold"/>
                  <a:ea typeface="Calibri (MS) Bold"/>
                  <a:cs typeface="Calibri (MS) Bold"/>
                  <a:sym typeface="Calibri (MS) Bold"/>
                </a:rPr>
                <a:t>Name </a:t>
              </a:r>
            </a:p>
          </p:txBody>
        </p:sp>
        <p:sp>
          <p:nvSpPr>
            <p:cNvPr name="TextBox 11" id="11"/>
            <p:cNvSpPr txBox="true"/>
            <p:nvPr/>
          </p:nvSpPr>
          <p:spPr>
            <a:xfrm rot="0">
              <a:off x="1232776" y="1278732"/>
              <a:ext cx="7070712" cy="870272"/>
            </a:xfrm>
            <a:prstGeom prst="rect">
              <a:avLst/>
            </a:prstGeom>
          </p:spPr>
          <p:txBody>
            <a:bodyPr anchor="t" rtlCol="false" tIns="0" lIns="0" bIns="0" rIns="0">
              <a:spAutoFit/>
            </a:bodyPr>
            <a:lstStyle/>
            <a:p>
              <a:pPr algn="l">
                <a:lnSpc>
                  <a:spcPts val="5175"/>
                </a:lnSpc>
              </a:pPr>
              <a:r>
                <a:rPr lang="en-US" sz="3545">
                  <a:solidFill>
                    <a:srgbClr val="000000"/>
                  </a:solidFill>
                  <a:latin typeface="Calibri (MS)"/>
                  <a:ea typeface="Calibri (MS)"/>
                  <a:cs typeface="Calibri (MS)"/>
                  <a:sym typeface="Calibri (MS)"/>
                </a:rPr>
                <a:t>Elugbindin Kehinde Rashidat </a:t>
              </a:r>
            </a:p>
          </p:txBody>
        </p:sp>
        <p:grpSp>
          <p:nvGrpSpPr>
            <p:cNvPr name="Group 12" id="12"/>
            <p:cNvGrpSpPr/>
            <p:nvPr/>
          </p:nvGrpSpPr>
          <p:grpSpPr>
            <a:xfrm rot="0">
              <a:off x="10340797" y="0"/>
              <a:ext cx="9536265" cy="2818779"/>
              <a:chOff x="0" y="0"/>
              <a:chExt cx="9536265" cy="2818779"/>
            </a:xfrm>
          </p:grpSpPr>
          <p:sp>
            <p:nvSpPr>
              <p:cNvPr name="Freeform 13" id="13"/>
              <p:cNvSpPr/>
              <p:nvPr/>
            </p:nvSpPr>
            <p:spPr>
              <a:xfrm flipH="false" flipV="false" rot="0">
                <a:off x="0" y="0"/>
                <a:ext cx="9536302" cy="2818830"/>
              </a:xfrm>
              <a:custGeom>
                <a:avLst/>
                <a:gdLst/>
                <a:ahLst/>
                <a:cxnLst/>
                <a:rect r="r" b="b" t="t" l="l"/>
                <a:pathLst>
                  <a:path h="2818830" w="9536302">
                    <a:moveTo>
                      <a:pt x="0" y="469805"/>
                    </a:moveTo>
                    <a:cubicBezTo>
                      <a:pt x="0" y="210334"/>
                      <a:pt x="213106" y="0"/>
                      <a:pt x="475996" y="0"/>
                    </a:cubicBezTo>
                    <a:lnTo>
                      <a:pt x="9060307" y="0"/>
                    </a:lnTo>
                    <a:cubicBezTo>
                      <a:pt x="9323197" y="0"/>
                      <a:pt x="9536302" y="210334"/>
                      <a:pt x="9536302" y="469805"/>
                    </a:cubicBezTo>
                    <a:lnTo>
                      <a:pt x="9536302" y="2349025"/>
                    </a:lnTo>
                    <a:cubicBezTo>
                      <a:pt x="9536302" y="2608495"/>
                      <a:pt x="9323197" y="2818830"/>
                      <a:pt x="9060307" y="2818830"/>
                    </a:cubicBezTo>
                    <a:lnTo>
                      <a:pt x="475996" y="2818830"/>
                    </a:lnTo>
                    <a:cubicBezTo>
                      <a:pt x="213106" y="2818830"/>
                      <a:pt x="0" y="2608495"/>
                      <a:pt x="0" y="2349025"/>
                    </a:cubicBezTo>
                    <a:close/>
                  </a:path>
                </a:pathLst>
              </a:custGeom>
              <a:solidFill>
                <a:srgbClr val="FFFFFF"/>
              </a:solidFill>
              <a:ln w="14299" cap="sq">
                <a:solidFill>
                  <a:srgbClr val="E6DCED"/>
                </a:solidFill>
                <a:prstDash val="solid"/>
                <a:miter/>
              </a:ln>
            </p:spPr>
          </p:sp>
        </p:grpSp>
        <p:sp>
          <p:nvSpPr>
            <p:cNvPr name="TextBox 14" id="14"/>
            <p:cNvSpPr txBox="true"/>
            <p:nvPr/>
          </p:nvSpPr>
          <p:spPr>
            <a:xfrm rot="0">
              <a:off x="10787501" y="215229"/>
              <a:ext cx="8541258" cy="676275"/>
            </a:xfrm>
            <a:prstGeom prst="rect">
              <a:avLst/>
            </a:prstGeom>
          </p:spPr>
          <p:txBody>
            <a:bodyPr anchor="t" rtlCol="false" tIns="0" lIns="0" bIns="0" rIns="0">
              <a:spAutoFit/>
            </a:bodyPr>
            <a:lstStyle/>
            <a:p>
              <a:pPr algn="ctr">
                <a:lnSpc>
                  <a:spcPts val="3600"/>
                </a:lnSpc>
              </a:pPr>
              <a:r>
                <a:rPr lang="en-US" sz="3000" b="true">
                  <a:solidFill>
                    <a:srgbClr val="6940A4"/>
                  </a:solidFill>
                  <a:latin typeface="Calibri (MS) Bold"/>
                  <a:ea typeface="Calibri (MS) Bold"/>
                  <a:cs typeface="Calibri (MS) Bold"/>
                  <a:sym typeface="Calibri (MS) Bold"/>
                </a:rPr>
                <a:t>Mentor's Name </a:t>
              </a:r>
            </a:p>
          </p:txBody>
        </p:sp>
        <p:sp>
          <p:nvSpPr>
            <p:cNvPr name="TextBox 15" id="15"/>
            <p:cNvSpPr txBox="true"/>
            <p:nvPr/>
          </p:nvSpPr>
          <p:spPr>
            <a:xfrm rot="0">
              <a:off x="11876481" y="1278732"/>
              <a:ext cx="5997359" cy="870272"/>
            </a:xfrm>
            <a:prstGeom prst="rect">
              <a:avLst/>
            </a:prstGeom>
          </p:spPr>
          <p:txBody>
            <a:bodyPr anchor="t" rtlCol="false" tIns="0" lIns="0" bIns="0" rIns="0">
              <a:spAutoFit/>
            </a:bodyPr>
            <a:lstStyle/>
            <a:p>
              <a:pPr algn="l">
                <a:lnSpc>
                  <a:spcPts val="5175"/>
                </a:lnSpc>
              </a:pPr>
              <a:r>
                <a:rPr lang="en-US" sz="3545">
                  <a:solidFill>
                    <a:srgbClr val="000000"/>
                  </a:solidFill>
                  <a:latin typeface="Calibri (MS)"/>
                  <a:ea typeface="Calibri (MS)"/>
                  <a:cs typeface="Calibri (MS)"/>
                  <a:sym typeface="Calibri (MS)"/>
                </a:rPr>
                <a:t>Mentor Chinedu Ezeofor</a:t>
              </a:r>
            </a:p>
          </p:txBody>
        </p:sp>
      </p:grpSp>
      <p:grpSp>
        <p:nvGrpSpPr>
          <p:cNvPr name="Group 16" id="16"/>
          <p:cNvGrpSpPr/>
          <p:nvPr/>
        </p:nvGrpSpPr>
        <p:grpSpPr>
          <a:xfrm rot="0">
            <a:off x="1407467" y="7000642"/>
            <a:ext cx="7373830" cy="2432249"/>
            <a:chOff x="0" y="0"/>
            <a:chExt cx="9536265" cy="3145526"/>
          </a:xfrm>
        </p:grpSpPr>
        <p:sp>
          <p:nvSpPr>
            <p:cNvPr name="Freeform 17" id="17"/>
            <p:cNvSpPr/>
            <p:nvPr/>
          </p:nvSpPr>
          <p:spPr>
            <a:xfrm flipH="false" flipV="false" rot="0">
              <a:off x="0" y="0"/>
              <a:ext cx="9536302" cy="3145576"/>
            </a:xfrm>
            <a:custGeom>
              <a:avLst/>
              <a:gdLst/>
              <a:ahLst/>
              <a:cxnLst/>
              <a:rect r="r" b="b" t="t" l="l"/>
              <a:pathLst>
                <a:path h="3145576" w="9536302">
                  <a:moveTo>
                    <a:pt x="0" y="524264"/>
                  </a:moveTo>
                  <a:cubicBezTo>
                    <a:pt x="0" y="234716"/>
                    <a:pt x="213106" y="0"/>
                    <a:pt x="475996" y="0"/>
                  </a:cubicBezTo>
                  <a:lnTo>
                    <a:pt x="9060307" y="0"/>
                  </a:lnTo>
                  <a:cubicBezTo>
                    <a:pt x="9323197" y="0"/>
                    <a:pt x="9536302" y="234716"/>
                    <a:pt x="9536302" y="524264"/>
                  </a:cubicBezTo>
                  <a:lnTo>
                    <a:pt x="9536302" y="2621318"/>
                  </a:lnTo>
                  <a:cubicBezTo>
                    <a:pt x="9536302" y="2910866"/>
                    <a:pt x="9323197" y="3145576"/>
                    <a:pt x="9060307" y="3145576"/>
                  </a:cubicBezTo>
                  <a:lnTo>
                    <a:pt x="475996" y="3145576"/>
                  </a:lnTo>
                  <a:cubicBezTo>
                    <a:pt x="213106" y="3145576"/>
                    <a:pt x="0" y="2910866"/>
                    <a:pt x="0" y="2621318"/>
                  </a:cubicBezTo>
                  <a:close/>
                </a:path>
              </a:pathLst>
            </a:custGeom>
            <a:solidFill>
              <a:srgbClr val="FFFFFF"/>
            </a:solidFill>
            <a:ln w="14299" cap="sq">
              <a:solidFill>
                <a:srgbClr val="E6DCED"/>
              </a:solidFill>
              <a:prstDash val="solid"/>
              <a:miter/>
            </a:ln>
          </p:spPr>
        </p:sp>
      </p:grpSp>
      <p:sp>
        <p:nvSpPr>
          <p:cNvPr name="TextBox 18" id="18"/>
          <p:cNvSpPr txBox="true"/>
          <p:nvPr/>
        </p:nvSpPr>
        <p:spPr>
          <a:xfrm rot="0">
            <a:off x="1603172" y="7162567"/>
            <a:ext cx="7050410" cy="523875"/>
          </a:xfrm>
          <a:prstGeom prst="rect">
            <a:avLst/>
          </a:prstGeom>
        </p:spPr>
        <p:txBody>
          <a:bodyPr anchor="t" rtlCol="false" tIns="0" lIns="0" bIns="0" rIns="0">
            <a:spAutoFit/>
          </a:bodyPr>
          <a:lstStyle/>
          <a:p>
            <a:pPr algn="ctr">
              <a:lnSpc>
                <a:spcPts val="3600"/>
              </a:lnSpc>
            </a:pPr>
            <a:r>
              <a:rPr lang="en-US" b="true" sz="3000">
                <a:solidFill>
                  <a:srgbClr val="6940A4"/>
                </a:solidFill>
                <a:latin typeface="Calibri (MS) Bold"/>
                <a:ea typeface="Calibri (MS) Bold"/>
                <a:cs typeface="Calibri (MS) Bold"/>
                <a:sym typeface="Calibri (MS) Bold"/>
              </a:rPr>
              <a:t>Track </a:t>
            </a:r>
          </a:p>
        </p:txBody>
      </p:sp>
      <p:sp>
        <p:nvSpPr>
          <p:cNvPr name="TextBox 19" id="19"/>
          <p:cNvSpPr txBox="true"/>
          <p:nvPr/>
        </p:nvSpPr>
        <p:spPr>
          <a:xfrm rot="0">
            <a:off x="1829914" y="7865412"/>
            <a:ext cx="6596926" cy="693185"/>
          </a:xfrm>
          <a:prstGeom prst="rect">
            <a:avLst/>
          </a:prstGeom>
        </p:spPr>
        <p:txBody>
          <a:bodyPr anchor="t" rtlCol="false" tIns="0" lIns="0" bIns="0" rIns="0">
            <a:spAutoFit/>
          </a:bodyPr>
          <a:lstStyle/>
          <a:p>
            <a:pPr algn="l">
              <a:lnSpc>
                <a:spcPts val="5175"/>
              </a:lnSpc>
            </a:pPr>
            <a:r>
              <a:rPr lang="en-US" sz="3545">
                <a:solidFill>
                  <a:srgbClr val="000000"/>
                </a:solidFill>
                <a:latin typeface="Calibri (MS)"/>
                <a:ea typeface="Calibri (MS)"/>
                <a:cs typeface="Calibri (MS)"/>
                <a:sym typeface="Calibri (MS)"/>
              </a:rPr>
              <a:t>Data Science and Machine Learning </a:t>
            </a:r>
          </a:p>
        </p:txBody>
      </p:sp>
      <p:grpSp>
        <p:nvGrpSpPr>
          <p:cNvPr name="Group 20" id="20"/>
          <p:cNvGrpSpPr/>
          <p:nvPr/>
        </p:nvGrpSpPr>
        <p:grpSpPr>
          <a:xfrm rot="0">
            <a:off x="9276031" y="7000642"/>
            <a:ext cx="7373830" cy="2432249"/>
            <a:chOff x="0" y="0"/>
            <a:chExt cx="9536265" cy="3145526"/>
          </a:xfrm>
        </p:grpSpPr>
        <p:sp>
          <p:nvSpPr>
            <p:cNvPr name="Freeform 21" id="21"/>
            <p:cNvSpPr/>
            <p:nvPr/>
          </p:nvSpPr>
          <p:spPr>
            <a:xfrm flipH="false" flipV="false" rot="0">
              <a:off x="0" y="0"/>
              <a:ext cx="9536302" cy="3145576"/>
            </a:xfrm>
            <a:custGeom>
              <a:avLst/>
              <a:gdLst/>
              <a:ahLst/>
              <a:cxnLst/>
              <a:rect r="r" b="b" t="t" l="l"/>
              <a:pathLst>
                <a:path h="3145576" w="9536302">
                  <a:moveTo>
                    <a:pt x="0" y="524264"/>
                  </a:moveTo>
                  <a:cubicBezTo>
                    <a:pt x="0" y="234716"/>
                    <a:pt x="213106" y="0"/>
                    <a:pt x="475996" y="0"/>
                  </a:cubicBezTo>
                  <a:lnTo>
                    <a:pt x="9060307" y="0"/>
                  </a:lnTo>
                  <a:cubicBezTo>
                    <a:pt x="9323197" y="0"/>
                    <a:pt x="9536302" y="234716"/>
                    <a:pt x="9536302" y="524264"/>
                  </a:cubicBezTo>
                  <a:lnTo>
                    <a:pt x="9536302" y="2621318"/>
                  </a:lnTo>
                  <a:cubicBezTo>
                    <a:pt x="9536302" y="2910866"/>
                    <a:pt x="9323197" y="3145576"/>
                    <a:pt x="9060307" y="3145576"/>
                  </a:cubicBezTo>
                  <a:lnTo>
                    <a:pt x="475996" y="3145576"/>
                  </a:lnTo>
                  <a:cubicBezTo>
                    <a:pt x="213106" y="3145576"/>
                    <a:pt x="0" y="2910866"/>
                    <a:pt x="0" y="2621318"/>
                  </a:cubicBezTo>
                  <a:close/>
                </a:path>
              </a:pathLst>
            </a:custGeom>
            <a:solidFill>
              <a:srgbClr val="FFFFFF"/>
            </a:solidFill>
            <a:ln w="14299" cap="sq">
              <a:solidFill>
                <a:srgbClr val="E6DCED"/>
              </a:solidFill>
              <a:prstDash val="solid"/>
              <a:miter/>
            </a:ln>
          </p:spPr>
        </p:sp>
      </p:grpSp>
      <p:sp>
        <p:nvSpPr>
          <p:cNvPr name="TextBox 22" id="22"/>
          <p:cNvSpPr txBox="true"/>
          <p:nvPr/>
        </p:nvSpPr>
        <p:spPr>
          <a:xfrm rot="0">
            <a:off x="9387345" y="7162567"/>
            <a:ext cx="7050410" cy="523875"/>
          </a:xfrm>
          <a:prstGeom prst="rect">
            <a:avLst/>
          </a:prstGeom>
        </p:spPr>
        <p:txBody>
          <a:bodyPr anchor="t" rtlCol="false" tIns="0" lIns="0" bIns="0" rIns="0">
            <a:spAutoFit/>
          </a:bodyPr>
          <a:lstStyle/>
          <a:p>
            <a:pPr algn="ctr">
              <a:lnSpc>
                <a:spcPts val="3600"/>
              </a:lnSpc>
            </a:pPr>
            <a:r>
              <a:rPr lang="en-US" sz="3000" b="true">
                <a:solidFill>
                  <a:srgbClr val="D33078"/>
                </a:solidFill>
                <a:latin typeface="Calibri (MS) Bold"/>
                <a:ea typeface="Calibri (MS) Bold"/>
                <a:cs typeface="Calibri (MS) Bold"/>
                <a:sym typeface="Calibri (MS) Bold"/>
              </a:rPr>
              <a:t>GitHub Repo Link</a:t>
            </a:r>
          </a:p>
        </p:txBody>
      </p:sp>
      <p:sp>
        <p:nvSpPr>
          <p:cNvPr name="TextBox 23" id="23"/>
          <p:cNvSpPr txBox="true"/>
          <p:nvPr/>
        </p:nvSpPr>
        <p:spPr>
          <a:xfrm rot="0">
            <a:off x="9953896" y="7742657"/>
            <a:ext cx="5891719" cy="1569543"/>
          </a:xfrm>
          <a:prstGeom prst="rect">
            <a:avLst/>
          </a:prstGeom>
        </p:spPr>
        <p:txBody>
          <a:bodyPr anchor="t" rtlCol="false" tIns="0" lIns="0" bIns="0" rIns="0">
            <a:spAutoFit/>
          </a:bodyPr>
          <a:lstStyle/>
          <a:p>
            <a:pPr algn="l">
              <a:lnSpc>
                <a:spcPts val="3970"/>
              </a:lnSpc>
            </a:pPr>
            <a:r>
              <a:rPr lang="en-US" sz="3545" u="sng">
                <a:solidFill>
                  <a:srgbClr val="000000"/>
                </a:solidFill>
                <a:latin typeface="Calibri (MS)"/>
                <a:ea typeface="Calibri (MS)"/>
                <a:cs typeface="Calibri (MS)"/>
                <a:sym typeface="Calibri (MS)"/>
                <a:hlinkClick r:id="rId2" tooltip="https://github.com/Elugbindin-Kehinde-Rashidat/data-science-mentorship-project"/>
              </a:rPr>
              <a:t>https://github.com/Elugbindin-Kehinde-Rashidat/data-science-mentorship-project</a:t>
            </a:r>
          </a:p>
        </p:txBody>
      </p:sp>
      <p:grpSp>
        <p:nvGrpSpPr>
          <p:cNvPr name="Group 24" id="24"/>
          <p:cNvGrpSpPr/>
          <p:nvPr/>
        </p:nvGrpSpPr>
        <p:grpSpPr>
          <a:xfrm rot="0">
            <a:off x="1679372" y="1733899"/>
            <a:ext cx="14570974" cy="2000134"/>
            <a:chOff x="0" y="0"/>
            <a:chExt cx="9536265" cy="1309027"/>
          </a:xfrm>
        </p:grpSpPr>
        <p:sp>
          <p:nvSpPr>
            <p:cNvPr name="Freeform 25" id="25"/>
            <p:cNvSpPr/>
            <p:nvPr/>
          </p:nvSpPr>
          <p:spPr>
            <a:xfrm flipH="false" flipV="false" rot="0">
              <a:off x="0" y="0"/>
              <a:ext cx="9536302" cy="1309078"/>
            </a:xfrm>
            <a:custGeom>
              <a:avLst/>
              <a:gdLst/>
              <a:ahLst/>
              <a:cxnLst/>
              <a:rect r="r" b="b" t="t" l="l"/>
              <a:pathLst>
                <a:path h="1309078" w="9536302">
                  <a:moveTo>
                    <a:pt x="0" y="218175"/>
                  </a:moveTo>
                  <a:cubicBezTo>
                    <a:pt x="0" y="97678"/>
                    <a:pt x="213106" y="0"/>
                    <a:pt x="475996" y="0"/>
                  </a:cubicBezTo>
                  <a:lnTo>
                    <a:pt x="9060307" y="0"/>
                  </a:lnTo>
                  <a:cubicBezTo>
                    <a:pt x="9323197" y="0"/>
                    <a:pt x="9536302" y="97678"/>
                    <a:pt x="9536302" y="218175"/>
                  </a:cubicBezTo>
                  <a:lnTo>
                    <a:pt x="9536302" y="1090876"/>
                  </a:lnTo>
                  <a:cubicBezTo>
                    <a:pt x="9536302" y="1211372"/>
                    <a:pt x="9323197" y="1309078"/>
                    <a:pt x="9060307" y="1309078"/>
                  </a:cubicBezTo>
                  <a:lnTo>
                    <a:pt x="475996" y="1309078"/>
                  </a:lnTo>
                  <a:cubicBezTo>
                    <a:pt x="213106" y="1309078"/>
                    <a:pt x="0" y="1211373"/>
                    <a:pt x="0" y="1090876"/>
                  </a:cubicBezTo>
                  <a:close/>
                </a:path>
              </a:pathLst>
            </a:custGeom>
            <a:solidFill>
              <a:srgbClr val="FFFFFF"/>
            </a:solidFill>
            <a:ln w="14299" cap="sq">
              <a:solidFill>
                <a:srgbClr val="E6DCED"/>
              </a:solidFill>
              <a:prstDash val="solid"/>
              <a:miter/>
            </a:ln>
          </p:spPr>
        </p:sp>
      </p:grpSp>
      <p:sp>
        <p:nvSpPr>
          <p:cNvPr name="TextBox 26" id="26"/>
          <p:cNvSpPr txBox="true"/>
          <p:nvPr/>
        </p:nvSpPr>
        <p:spPr>
          <a:xfrm rot="0">
            <a:off x="5389442" y="1877942"/>
            <a:ext cx="7050410" cy="523875"/>
          </a:xfrm>
          <a:prstGeom prst="rect">
            <a:avLst/>
          </a:prstGeom>
        </p:spPr>
        <p:txBody>
          <a:bodyPr anchor="t" rtlCol="false" tIns="0" lIns="0" bIns="0" rIns="0">
            <a:spAutoFit/>
          </a:bodyPr>
          <a:lstStyle/>
          <a:p>
            <a:pPr algn="ctr">
              <a:lnSpc>
                <a:spcPts val="3600"/>
              </a:lnSpc>
            </a:pPr>
            <a:r>
              <a:rPr lang="en-US" sz="3000" b="true">
                <a:solidFill>
                  <a:srgbClr val="6940A4"/>
                </a:solidFill>
                <a:latin typeface="Calibri (MS) Bold"/>
                <a:ea typeface="Calibri (MS) Bold"/>
                <a:cs typeface="Calibri (MS) Bold"/>
                <a:sym typeface="Calibri (MS) Bold"/>
              </a:rPr>
              <a:t>Project Title </a:t>
            </a:r>
          </a:p>
        </p:txBody>
      </p:sp>
      <p:sp>
        <p:nvSpPr>
          <p:cNvPr name="TextBox 27" id="27"/>
          <p:cNvSpPr txBox="true"/>
          <p:nvPr/>
        </p:nvSpPr>
        <p:spPr>
          <a:xfrm rot="0">
            <a:off x="3356788" y="2268467"/>
            <a:ext cx="11896639" cy="1352550"/>
          </a:xfrm>
          <a:prstGeom prst="rect">
            <a:avLst/>
          </a:prstGeom>
        </p:spPr>
        <p:txBody>
          <a:bodyPr anchor="t" rtlCol="false" tIns="0" lIns="0" bIns="0" rIns="0">
            <a:spAutoFit/>
          </a:bodyPr>
          <a:lstStyle/>
          <a:p>
            <a:pPr algn="ctr">
              <a:lnSpc>
                <a:spcPts val="6000"/>
              </a:lnSpc>
            </a:pPr>
            <a:r>
              <a:rPr lang="en-US" sz="5000" b="true">
                <a:solidFill>
                  <a:srgbClr val="D33078"/>
                </a:solidFill>
                <a:latin typeface="Calibri (MS) Bold"/>
                <a:ea typeface="Calibri (MS) Bold"/>
                <a:cs typeface="Calibri (MS) Bold"/>
                <a:sym typeface="Calibri (MS) Bold"/>
              </a:rPr>
              <a:t>Pregnancy Journey Partner (PJP)</a:t>
            </a:r>
          </a:p>
          <a:p>
            <a:pPr algn="ctr">
              <a:lnSpc>
                <a:spcPts val="3782"/>
              </a:lnSpc>
            </a:pPr>
            <a:r>
              <a:rPr lang="en-US" sz="3152">
                <a:solidFill>
                  <a:srgbClr val="000000"/>
                </a:solidFill>
                <a:latin typeface="Calibri (MS)"/>
                <a:ea typeface="Calibri (MS)"/>
                <a:cs typeface="Calibri (MS)"/>
                <a:sym typeface="Calibri (MS)"/>
              </a:rPr>
              <a:t>AI-Powered Maternal Health Risk Assessment &amp; Education Assistant</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4" id="4"/>
          <p:cNvGrpSpPr/>
          <p:nvPr/>
        </p:nvGrpSpPr>
        <p:grpSpPr>
          <a:xfrm rot="0">
            <a:off x="0" y="0"/>
            <a:ext cx="18301840" cy="164725"/>
            <a:chOff x="0" y="0"/>
            <a:chExt cx="24402453" cy="219634"/>
          </a:xfrm>
        </p:grpSpPr>
        <p:sp>
          <p:nvSpPr>
            <p:cNvPr name="Freeform 5" id="5"/>
            <p:cNvSpPr/>
            <p:nvPr/>
          </p:nvSpPr>
          <p:spPr>
            <a:xfrm flipH="false" flipV="false" rot="0">
              <a:off x="0" y="0"/>
              <a:ext cx="24402414" cy="219583"/>
            </a:xfrm>
            <a:custGeom>
              <a:avLst/>
              <a:gdLst/>
              <a:ahLst/>
              <a:cxnLst/>
              <a:rect r="r" b="b" t="t" l="l"/>
              <a:pathLst>
                <a:path h="219583" w="24402414">
                  <a:moveTo>
                    <a:pt x="0" y="0"/>
                  </a:moveTo>
                  <a:lnTo>
                    <a:pt x="24402414" y="0"/>
                  </a:lnTo>
                  <a:lnTo>
                    <a:pt x="24402414" y="219583"/>
                  </a:lnTo>
                  <a:lnTo>
                    <a:pt x="0" y="219583"/>
                  </a:lnTo>
                  <a:close/>
                </a:path>
              </a:pathLst>
            </a:custGeom>
            <a:solidFill>
              <a:srgbClr val="D33078"/>
            </a:solidFill>
          </p:spPr>
        </p:sp>
      </p:grpSp>
      <p:sp>
        <p:nvSpPr>
          <p:cNvPr name="TextBox 6" id="6"/>
          <p:cNvSpPr txBox="true"/>
          <p:nvPr/>
        </p:nvSpPr>
        <p:spPr>
          <a:xfrm rot="0">
            <a:off x="983675" y="526990"/>
            <a:ext cx="16289188" cy="896045"/>
          </a:xfrm>
          <a:prstGeom prst="rect">
            <a:avLst/>
          </a:prstGeom>
        </p:spPr>
        <p:txBody>
          <a:bodyPr anchor="t" rtlCol="false" tIns="0" lIns="0" bIns="0" rIns="0">
            <a:spAutoFit/>
          </a:bodyPr>
          <a:lstStyle/>
          <a:p>
            <a:pPr algn="l">
              <a:lnSpc>
                <a:spcPts val="5224"/>
              </a:lnSpc>
            </a:pPr>
            <a:r>
              <a:rPr lang="en-US" sz="4353" b="true">
                <a:solidFill>
                  <a:srgbClr val="301948"/>
                </a:solidFill>
                <a:latin typeface="Calibri (MS) Bold"/>
                <a:ea typeface="Calibri (MS) Bold"/>
                <a:cs typeface="Calibri (MS) Bold"/>
                <a:sym typeface="Calibri (MS) Bold"/>
              </a:rPr>
              <a:t>The Problem</a:t>
            </a:r>
          </a:p>
        </p:txBody>
      </p:sp>
      <p:sp>
        <p:nvSpPr>
          <p:cNvPr name="TextBox 7" id="7"/>
          <p:cNvSpPr txBox="true"/>
          <p:nvPr/>
        </p:nvSpPr>
        <p:spPr>
          <a:xfrm rot="0">
            <a:off x="1024861" y="1420349"/>
            <a:ext cx="16014659" cy="523875"/>
          </a:xfrm>
          <a:prstGeom prst="rect">
            <a:avLst/>
          </a:prstGeom>
        </p:spPr>
        <p:txBody>
          <a:bodyPr anchor="t" rtlCol="false" tIns="0" lIns="0" bIns="0" rIns="0">
            <a:spAutoFit/>
          </a:bodyPr>
          <a:lstStyle/>
          <a:p>
            <a:pPr algn="l">
              <a:lnSpc>
                <a:spcPts val="3600"/>
              </a:lnSpc>
            </a:pPr>
            <a:r>
              <a:rPr lang="en-US" b="true" sz="3000">
                <a:solidFill>
                  <a:srgbClr val="000000"/>
                </a:solidFill>
                <a:latin typeface="Calibri (MS) Bold"/>
                <a:ea typeface="Calibri (MS) Bold"/>
                <a:cs typeface="Calibri (MS) Bold"/>
                <a:sym typeface="Calibri (MS) Bold"/>
              </a:rPr>
              <a:t>Two related challenges in maternal health support</a:t>
            </a:r>
          </a:p>
        </p:txBody>
      </p:sp>
      <p:grpSp>
        <p:nvGrpSpPr>
          <p:cNvPr name="Group 8" id="8"/>
          <p:cNvGrpSpPr/>
          <p:nvPr/>
        </p:nvGrpSpPr>
        <p:grpSpPr>
          <a:xfrm rot="0">
            <a:off x="1022356" y="2257758"/>
            <a:ext cx="7907169" cy="6465856"/>
            <a:chOff x="0" y="0"/>
            <a:chExt cx="10542892" cy="8621141"/>
          </a:xfrm>
        </p:grpSpPr>
        <p:sp>
          <p:nvSpPr>
            <p:cNvPr name="Freeform 9" id="9"/>
            <p:cNvSpPr/>
            <p:nvPr/>
          </p:nvSpPr>
          <p:spPr>
            <a:xfrm flipH="false" flipV="false" rot="0">
              <a:off x="0" y="0"/>
              <a:ext cx="10542905" cy="8621141"/>
            </a:xfrm>
            <a:custGeom>
              <a:avLst/>
              <a:gdLst/>
              <a:ahLst/>
              <a:cxnLst/>
              <a:rect r="r" b="b" t="t" l="l"/>
              <a:pathLst>
                <a:path h="8621141" w="10542905">
                  <a:moveTo>
                    <a:pt x="0" y="1436878"/>
                  </a:moveTo>
                  <a:cubicBezTo>
                    <a:pt x="0" y="643255"/>
                    <a:pt x="643255" y="0"/>
                    <a:pt x="1436878" y="0"/>
                  </a:cubicBezTo>
                  <a:lnTo>
                    <a:pt x="9106027" y="0"/>
                  </a:lnTo>
                  <a:cubicBezTo>
                    <a:pt x="9899650" y="0"/>
                    <a:pt x="10542905" y="643255"/>
                    <a:pt x="10542905" y="1436878"/>
                  </a:cubicBezTo>
                  <a:lnTo>
                    <a:pt x="10542905" y="7184263"/>
                  </a:lnTo>
                  <a:cubicBezTo>
                    <a:pt x="10542905" y="7977886"/>
                    <a:pt x="9899650" y="8621141"/>
                    <a:pt x="9106027" y="8621141"/>
                  </a:cubicBezTo>
                  <a:lnTo>
                    <a:pt x="1436878" y="8621141"/>
                  </a:lnTo>
                  <a:cubicBezTo>
                    <a:pt x="643255" y="8621141"/>
                    <a:pt x="0" y="7977886"/>
                    <a:pt x="0" y="7184263"/>
                  </a:cubicBezTo>
                  <a:close/>
                </a:path>
              </a:pathLst>
            </a:custGeom>
            <a:solidFill>
              <a:srgbClr val="FFFFFF"/>
            </a:solidFill>
            <a:ln w="14299" cap="sq">
              <a:solidFill>
                <a:srgbClr val="E6DCED"/>
              </a:solidFill>
              <a:prstDash val="solid"/>
              <a:miter/>
            </a:ln>
          </p:spPr>
        </p:sp>
      </p:grpSp>
      <p:sp>
        <p:nvSpPr>
          <p:cNvPr name="TextBox 10" id="10"/>
          <p:cNvSpPr txBox="true"/>
          <p:nvPr/>
        </p:nvSpPr>
        <p:spPr>
          <a:xfrm rot="0">
            <a:off x="1395479" y="2449859"/>
            <a:ext cx="572091" cy="524304"/>
          </a:xfrm>
          <a:prstGeom prst="rect">
            <a:avLst/>
          </a:prstGeom>
        </p:spPr>
        <p:txBody>
          <a:bodyPr anchor="t" rtlCol="false" tIns="0" lIns="0" bIns="0" rIns="0">
            <a:spAutoFit/>
          </a:bodyPr>
          <a:lstStyle/>
          <a:p>
            <a:pPr algn="l">
              <a:lnSpc>
                <a:spcPts val="3782"/>
              </a:lnSpc>
            </a:pPr>
            <a:r>
              <a:rPr lang="en-US" sz="3152">
                <a:solidFill>
                  <a:srgbClr val="000000"/>
                </a:solidFill>
                <a:latin typeface="Calibri (MS)"/>
                <a:ea typeface="Calibri (MS)"/>
                <a:cs typeface="Calibri (MS)"/>
                <a:sym typeface="Calibri (MS)"/>
              </a:rPr>
              <a:t>📊</a:t>
            </a:r>
          </a:p>
        </p:txBody>
      </p:sp>
      <p:sp>
        <p:nvSpPr>
          <p:cNvPr name="TextBox 11" id="11"/>
          <p:cNvSpPr txBox="true"/>
          <p:nvPr/>
        </p:nvSpPr>
        <p:spPr>
          <a:xfrm rot="0">
            <a:off x="1395479" y="3095015"/>
            <a:ext cx="7160914" cy="561975"/>
          </a:xfrm>
          <a:prstGeom prst="rect">
            <a:avLst/>
          </a:prstGeom>
        </p:spPr>
        <p:txBody>
          <a:bodyPr anchor="t" rtlCol="false" tIns="0" lIns="0" bIns="0" rIns="0">
            <a:spAutoFit/>
          </a:bodyPr>
          <a:lstStyle/>
          <a:p>
            <a:pPr algn="l">
              <a:lnSpc>
                <a:spcPts val="3960"/>
              </a:lnSpc>
            </a:pPr>
            <a:r>
              <a:rPr lang="en-US" sz="3300" b="true">
                <a:solidFill>
                  <a:srgbClr val="D33078"/>
                </a:solidFill>
                <a:latin typeface="Calibri (MS) Bold"/>
                <a:ea typeface="Calibri (MS) Bold"/>
                <a:cs typeface="Calibri (MS) Bold"/>
                <a:sym typeface="Calibri (MS) Bold"/>
              </a:rPr>
              <a:t>1. Preliminary risk assessment</a:t>
            </a:r>
          </a:p>
        </p:txBody>
      </p:sp>
      <p:sp>
        <p:nvSpPr>
          <p:cNvPr name="TextBox 12" id="12"/>
          <p:cNvSpPr txBox="true"/>
          <p:nvPr/>
        </p:nvSpPr>
        <p:spPr>
          <a:xfrm rot="0">
            <a:off x="1395479" y="3849976"/>
            <a:ext cx="7160914" cy="2809875"/>
          </a:xfrm>
          <a:prstGeom prst="rect">
            <a:avLst/>
          </a:prstGeom>
        </p:spPr>
        <p:txBody>
          <a:bodyPr anchor="t" rtlCol="false" tIns="0" lIns="0" bIns="0" rIns="0">
            <a:spAutoFit/>
          </a:bodyPr>
          <a:lstStyle/>
          <a:p>
            <a:pPr algn="l">
              <a:lnSpc>
                <a:spcPts val="3600"/>
              </a:lnSpc>
            </a:pPr>
            <a:r>
              <a:rPr lang="en-US" sz="3000">
                <a:solidFill>
                  <a:srgbClr val="000000"/>
                </a:solidFill>
                <a:latin typeface="Calibri (MS)"/>
                <a:ea typeface="Calibri (MS)"/>
                <a:cs typeface="Calibri (MS)"/>
                <a:sym typeface="Calibri (MS)"/>
              </a:rPr>
              <a:t>Maternal health risk assessment can involve multiple health indicators, antenatal information, vital signs, laboratory measurements and clinical review. Manual review can take time and may be inconsistent as an initial screening step.</a:t>
            </a:r>
          </a:p>
        </p:txBody>
      </p:sp>
      <p:grpSp>
        <p:nvGrpSpPr>
          <p:cNvPr name="Group 13" id="13"/>
          <p:cNvGrpSpPr/>
          <p:nvPr/>
        </p:nvGrpSpPr>
        <p:grpSpPr>
          <a:xfrm rot="0">
            <a:off x="9327023" y="2257758"/>
            <a:ext cx="7907169" cy="6465856"/>
            <a:chOff x="0" y="0"/>
            <a:chExt cx="10542892" cy="8621141"/>
          </a:xfrm>
        </p:grpSpPr>
        <p:sp>
          <p:nvSpPr>
            <p:cNvPr name="Freeform 14" id="14"/>
            <p:cNvSpPr/>
            <p:nvPr/>
          </p:nvSpPr>
          <p:spPr>
            <a:xfrm flipH="false" flipV="false" rot="0">
              <a:off x="0" y="0"/>
              <a:ext cx="10542905" cy="8621141"/>
            </a:xfrm>
            <a:custGeom>
              <a:avLst/>
              <a:gdLst/>
              <a:ahLst/>
              <a:cxnLst/>
              <a:rect r="r" b="b" t="t" l="l"/>
              <a:pathLst>
                <a:path h="8621141" w="10542905">
                  <a:moveTo>
                    <a:pt x="0" y="1436878"/>
                  </a:moveTo>
                  <a:cubicBezTo>
                    <a:pt x="0" y="643255"/>
                    <a:pt x="643255" y="0"/>
                    <a:pt x="1436878" y="0"/>
                  </a:cubicBezTo>
                  <a:lnTo>
                    <a:pt x="9106027" y="0"/>
                  </a:lnTo>
                  <a:cubicBezTo>
                    <a:pt x="9899650" y="0"/>
                    <a:pt x="10542905" y="643255"/>
                    <a:pt x="10542905" y="1436878"/>
                  </a:cubicBezTo>
                  <a:lnTo>
                    <a:pt x="10542905" y="7184263"/>
                  </a:lnTo>
                  <a:cubicBezTo>
                    <a:pt x="10542905" y="7977886"/>
                    <a:pt x="9899650" y="8621141"/>
                    <a:pt x="9106027" y="8621141"/>
                  </a:cubicBezTo>
                  <a:lnTo>
                    <a:pt x="1436878" y="8621141"/>
                  </a:lnTo>
                  <a:cubicBezTo>
                    <a:pt x="643255" y="8621141"/>
                    <a:pt x="0" y="7977886"/>
                    <a:pt x="0" y="7184263"/>
                  </a:cubicBezTo>
                  <a:close/>
                </a:path>
              </a:pathLst>
            </a:custGeom>
            <a:solidFill>
              <a:srgbClr val="FFFFFF"/>
            </a:solidFill>
            <a:ln w="14299" cap="sq">
              <a:solidFill>
                <a:srgbClr val="E6DCED"/>
              </a:solidFill>
              <a:prstDash val="solid"/>
              <a:miter/>
            </a:ln>
          </p:spPr>
        </p:sp>
      </p:grpSp>
      <p:sp>
        <p:nvSpPr>
          <p:cNvPr name="TextBox 15" id="15"/>
          <p:cNvSpPr txBox="true"/>
          <p:nvPr/>
        </p:nvSpPr>
        <p:spPr>
          <a:xfrm rot="0">
            <a:off x="9700146" y="2449859"/>
            <a:ext cx="572091" cy="524304"/>
          </a:xfrm>
          <a:prstGeom prst="rect">
            <a:avLst/>
          </a:prstGeom>
        </p:spPr>
        <p:txBody>
          <a:bodyPr anchor="t" rtlCol="false" tIns="0" lIns="0" bIns="0" rIns="0">
            <a:spAutoFit/>
          </a:bodyPr>
          <a:lstStyle/>
          <a:p>
            <a:pPr algn="l">
              <a:lnSpc>
                <a:spcPts val="3782"/>
              </a:lnSpc>
            </a:pPr>
            <a:r>
              <a:rPr lang="en-US" sz="3152">
                <a:solidFill>
                  <a:srgbClr val="000000"/>
                </a:solidFill>
                <a:latin typeface="Calibri (MS)"/>
                <a:ea typeface="Calibri (MS)"/>
                <a:cs typeface="Calibri (MS)"/>
                <a:sym typeface="Calibri (MS)"/>
              </a:rPr>
              <a:t>📚</a:t>
            </a:r>
          </a:p>
        </p:txBody>
      </p:sp>
      <p:sp>
        <p:nvSpPr>
          <p:cNvPr name="TextBox 16" id="16"/>
          <p:cNvSpPr txBox="true"/>
          <p:nvPr/>
        </p:nvSpPr>
        <p:spPr>
          <a:xfrm rot="0">
            <a:off x="9700146" y="3095015"/>
            <a:ext cx="7160914" cy="561975"/>
          </a:xfrm>
          <a:prstGeom prst="rect">
            <a:avLst/>
          </a:prstGeom>
        </p:spPr>
        <p:txBody>
          <a:bodyPr anchor="t" rtlCol="false" tIns="0" lIns="0" bIns="0" rIns="0">
            <a:spAutoFit/>
          </a:bodyPr>
          <a:lstStyle/>
          <a:p>
            <a:pPr algn="l">
              <a:lnSpc>
                <a:spcPts val="3960"/>
              </a:lnSpc>
            </a:pPr>
            <a:r>
              <a:rPr lang="en-US" sz="3300" b="true">
                <a:solidFill>
                  <a:srgbClr val="6940A4"/>
                </a:solidFill>
                <a:latin typeface="Calibri (MS) Bold"/>
                <a:ea typeface="Calibri (MS) Bold"/>
                <a:cs typeface="Calibri (MS) Bold"/>
                <a:sym typeface="Calibri (MS) Bold"/>
              </a:rPr>
              <a:t>2. Access to reliable education</a:t>
            </a:r>
          </a:p>
        </p:txBody>
      </p:sp>
      <p:sp>
        <p:nvSpPr>
          <p:cNvPr name="TextBox 17" id="17"/>
          <p:cNvSpPr txBox="true"/>
          <p:nvPr/>
        </p:nvSpPr>
        <p:spPr>
          <a:xfrm rot="0">
            <a:off x="9700146" y="3849976"/>
            <a:ext cx="7160914" cy="2352675"/>
          </a:xfrm>
          <a:prstGeom prst="rect">
            <a:avLst/>
          </a:prstGeom>
        </p:spPr>
        <p:txBody>
          <a:bodyPr anchor="t" rtlCol="false" tIns="0" lIns="0" bIns="0" rIns="0">
            <a:spAutoFit/>
          </a:bodyPr>
          <a:lstStyle/>
          <a:p>
            <a:pPr algn="l">
              <a:lnSpc>
                <a:spcPts val="3600"/>
              </a:lnSpc>
            </a:pPr>
            <a:r>
              <a:rPr lang="en-US" sz="3000">
                <a:solidFill>
                  <a:srgbClr val="000000"/>
                </a:solidFill>
                <a:latin typeface="Calibri (MS)"/>
                <a:ea typeface="Calibri (MS)"/>
                <a:cs typeface="Calibri (MS)"/>
                <a:sym typeface="Calibri (MS)"/>
              </a:rPr>
              <a:t>Pregnant women may not always have timely access to understandable, trustworthy pregnancy information. Unreliable information can contribute to confusion and delayed action when warning signs occur.</a:t>
            </a:r>
          </a:p>
        </p:txBody>
      </p:sp>
      <p:sp>
        <p:nvSpPr>
          <p:cNvPr name="TextBox 18" id="18"/>
          <p:cNvSpPr txBox="true"/>
          <p:nvPr/>
        </p:nvSpPr>
        <p:spPr>
          <a:xfrm rot="0">
            <a:off x="16151704" y="9735664"/>
            <a:ext cx="915257" cy="280302"/>
          </a:xfrm>
          <a:prstGeom prst="rect">
            <a:avLst/>
          </a:prstGeom>
        </p:spPr>
        <p:txBody>
          <a:bodyPr anchor="t" rtlCol="false" tIns="0" lIns="0" bIns="0" rIns="0">
            <a:spAutoFit/>
          </a:bodyPr>
          <a:lstStyle/>
          <a:p>
            <a:pPr algn="r">
              <a:lnSpc>
                <a:spcPts val="1621"/>
              </a:lnSpc>
            </a:pPr>
            <a:r>
              <a:rPr lang="en-US" sz="1351">
                <a:solidFill>
                  <a:srgbClr val="6E6574"/>
                </a:solidFill>
                <a:latin typeface="Calibri (MS)"/>
                <a:ea typeface="Calibri (MS)"/>
                <a:cs typeface="Calibri (MS)"/>
                <a:sym typeface="Calibri (MS)"/>
              </a:rPr>
              <a:t>2</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7F3FD"/>
            </a:solidFill>
          </p:spPr>
        </p:sp>
      </p:grpSp>
      <p:grpSp>
        <p:nvGrpSpPr>
          <p:cNvPr name="Group 4" id="4"/>
          <p:cNvGrpSpPr/>
          <p:nvPr/>
        </p:nvGrpSpPr>
        <p:grpSpPr>
          <a:xfrm rot="0">
            <a:off x="0" y="0"/>
            <a:ext cx="18301840" cy="164725"/>
            <a:chOff x="0" y="0"/>
            <a:chExt cx="24402453" cy="219634"/>
          </a:xfrm>
        </p:grpSpPr>
        <p:sp>
          <p:nvSpPr>
            <p:cNvPr name="Freeform 5" id="5"/>
            <p:cNvSpPr/>
            <p:nvPr/>
          </p:nvSpPr>
          <p:spPr>
            <a:xfrm flipH="false" flipV="false" rot="0">
              <a:off x="0" y="0"/>
              <a:ext cx="24402414" cy="219583"/>
            </a:xfrm>
            <a:custGeom>
              <a:avLst/>
              <a:gdLst/>
              <a:ahLst/>
              <a:cxnLst/>
              <a:rect r="r" b="b" t="t" l="l"/>
              <a:pathLst>
                <a:path h="219583" w="24402414">
                  <a:moveTo>
                    <a:pt x="0" y="0"/>
                  </a:moveTo>
                  <a:lnTo>
                    <a:pt x="24402414" y="0"/>
                  </a:lnTo>
                  <a:lnTo>
                    <a:pt x="24402414" y="219583"/>
                  </a:lnTo>
                  <a:lnTo>
                    <a:pt x="0" y="219583"/>
                  </a:lnTo>
                  <a:close/>
                </a:path>
              </a:pathLst>
            </a:custGeom>
            <a:solidFill>
              <a:srgbClr val="D33078"/>
            </a:solidFill>
          </p:spPr>
        </p:sp>
      </p:grpSp>
      <p:sp>
        <p:nvSpPr>
          <p:cNvPr name="TextBox 6" id="6"/>
          <p:cNvSpPr txBox="true"/>
          <p:nvPr/>
        </p:nvSpPr>
        <p:spPr>
          <a:xfrm rot="0">
            <a:off x="983675" y="526990"/>
            <a:ext cx="16289188" cy="896045"/>
          </a:xfrm>
          <a:prstGeom prst="rect">
            <a:avLst/>
          </a:prstGeom>
        </p:spPr>
        <p:txBody>
          <a:bodyPr anchor="t" rtlCol="false" tIns="0" lIns="0" bIns="0" rIns="0">
            <a:spAutoFit/>
          </a:bodyPr>
          <a:lstStyle/>
          <a:p>
            <a:pPr algn="l">
              <a:lnSpc>
                <a:spcPts val="5224"/>
              </a:lnSpc>
            </a:pPr>
            <a:r>
              <a:rPr lang="en-US" sz="4353" b="true">
                <a:solidFill>
                  <a:srgbClr val="301948"/>
                </a:solidFill>
                <a:latin typeface="Calibri (MS) Bold"/>
                <a:ea typeface="Calibri (MS) Bold"/>
                <a:cs typeface="Calibri (MS) Bold"/>
                <a:sym typeface="Calibri (MS) Bold"/>
              </a:rPr>
              <a:t>Proposed Solution</a:t>
            </a:r>
          </a:p>
        </p:txBody>
      </p:sp>
      <p:sp>
        <p:nvSpPr>
          <p:cNvPr name="TextBox 7" id="7"/>
          <p:cNvSpPr txBox="true"/>
          <p:nvPr/>
        </p:nvSpPr>
        <p:spPr>
          <a:xfrm rot="0">
            <a:off x="1024861" y="1420349"/>
            <a:ext cx="16014659" cy="523875"/>
          </a:xfrm>
          <a:prstGeom prst="rect">
            <a:avLst/>
          </a:prstGeom>
        </p:spPr>
        <p:txBody>
          <a:bodyPr anchor="t" rtlCol="false" tIns="0" lIns="0" bIns="0" rIns="0">
            <a:spAutoFit/>
          </a:bodyPr>
          <a:lstStyle/>
          <a:p>
            <a:pPr algn="l">
              <a:lnSpc>
                <a:spcPts val="3600"/>
              </a:lnSpc>
            </a:pPr>
            <a:r>
              <a:rPr lang="en-US" sz="3000">
                <a:solidFill>
                  <a:srgbClr val="000000"/>
                </a:solidFill>
                <a:latin typeface="Calibri (MS)"/>
                <a:ea typeface="Calibri (MS)"/>
                <a:cs typeface="Calibri (MS)"/>
                <a:sym typeface="Calibri (MS)"/>
              </a:rPr>
              <a:t>One application combining two complementary AI components</a:t>
            </a:r>
          </a:p>
        </p:txBody>
      </p:sp>
      <p:grpSp>
        <p:nvGrpSpPr>
          <p:cNvPr name="Group 8" id="8"/>
          <p:cNvGrpSpPr/>
          <p:nvPr/>
        </p:nvGrpSpPr>
        <p:grpSpPr>
          <a:xfrm rot="0">
            <a:off x="953719" y="2257758"/>
            <a:ext cx="5230454" cy="4545510"/>
            <a:chOff x="0" y="0"/>
            <a:chExt cx="6973938" cy="6060680"/>
          </a:xfrm>
        </p:grpSpPr>
        <p:sp>
          <p:nvSpPr>
            <p:cNvPr name="Freeform 9" id="9"/>
            <p:cNvSpPr/>
            <p:nvPr/>
          </p:nvSpPr>
          <p:spPr>
            <a:xfrm flipH="false" flipV="false" rot="0">
              <a:off x="0" y="0"/>
              <a:ext cx="6973951" cy="6060694"/>
            </a:xfrm>
            <a:custGeom>
              <a:avLst/>
              <a:gdLst/>
              <a:ahLst/>
              <a:cxnLst/>
              <a:rect r="r" b="b" t="t" l="l"/>
              <a:pathLst>
                <a:path h="6060694" w="6973951">
                  <a:moveTo>
                    <a:pt x="0" y="834825"/>
                  </a:moveTo>
                  <a:cubicBezTo>
                    <a:pt x="0" y="373810"/>
                    <a:pt x="520446" y="0"/>
                    <a:pt x="1162304" y="0"/>
                  </a:cubicBezTo>
                  <a:lnTo>
                    <a:pt x="5811647" y="0"/>
                  </a:lnTo>
                  <a:cubicBezTo>
                    <a:pt x="6453632" y="0"/>
                    <a:pt x="6973951" y="373810"/>
                    <a:pt x="6973951" y="834825"/>
                  </a:cubicBezTo>
                  <a:lnTo>
                    <a:pt x="6973951" y="5225865"/>
                  </a:lnTo>
                  <a:cubicBezTo>
                    <a:pt x="6973951" y="5686971"/>
                    <a:pt x="6453505" y="6060694"/>
                    <a:pt x="5811647" y="6060694"/>
                  </a:cubicBezTo>
                  <a:lnTo>
                    <a:pt x="1162304" y="6060694"/>
                  </a:lnTo>
                  <a:cubicBezTo>
                    <a:pt x="520446" y="6060693"/>
                    <a:pt x="0" y="5686879"/>
                    <a:pt x="0" y="5225865"/>
                  </a:cubicBezTo>
                  <a:close/>
                </a:path>
              </a:pathLst>
            </a:custGeom>
            <a:solidFill>
              <a:srgbClr val="FFFFFF"/>
            </a:solidFill>
            <a:ln w="14299" cap="sq">
              <a:solidFill>
                <a:srgbClr val="E6DCED"/>
              </a:solidFill>
              <a:prstDash val="solid"/>
              <a:miter/>
            </a:ln>
          </p:spPr>
        </p:sp>
      </p:grpSp>
      <p:sp>
        <p:nvSpPr>
          <p:cNvPr name="TextBox 10" id="10"/>
          <p:cNvSpPr txBox="true"/>
          <p:nvPr/>
        </p:nvSpPr>
        <p:spPr>
          <a:xfrm rot="0">
            <a:off x="1326842" y="2449859"/>
            <a:ext cx="572091" cy="524304"/>
          </a:xfrm>
          <a:prstGeom prst="rect">
            <a:avLst/>
          </a:prstGeom>
        </p:spPr>
        <p:txBody>
          <a:bodyPr anchor="t" rtlCol="false" tIns="0" lIns="0" bIns="0" rIns="0">
            <a:spAutoFit/>
          </a:bodyPr>
          <a:lstStyle/>
          <a:p>
            <a:pPr algn="l">
              <a:lnSpc>
                <a:spcPts val="3782"/>
              </a:lnSpc>
            </a:pPr>
            <a:r>
              <a:rPr lang="en-US" sz="3152">
                <a:solidFill>
                  <a:srgbClr val="000000"/>
                </a:solidFill>
                <a:latin typeface="Calibri (MS)"/>
                <a:ea typeface="Calibri (MS)"/>
                <a:cs typeface="Calibri (MS)"/>
                <a:sym typeface="Calibri (MS)"/>
              </a:rPr>
              <a:t>🧠</a:t>
            </a:r>
          </a:p>
        </p:txBody>
      </p:sp>
      <p:sp>
        <p:nvSpPr>
          <p:cNvPr name="TextBox 11" id="11"/>
          <p:cNvSpPr txBox="true"/>
          <p:nvPr/>
        </p:nvSpPr>
        <p:spPr>
          <a:xfrm rot="0">
            <a:off x="1326842" y="3095015"/>
            <a:ext cx="4484208" cy="523875"/>
          </a:xfrm>
          <a:prstGeom prst="rect">
            <a:avLst/>
          </a:prstGeom>
        </p:spPr>
        <p:txBody>
          <a:bodyPr anchor="t" rtlCol="false" tIns="0" lIns="0" bIns="0" rIns="0">
            <a:spAutoFit/>
          </a:bodyPr>
          <a:lstStyle/>
          <a:p>
            <a:pPr algn="l">
              <a:lnSpc>
                <a:spcPts val="3600"/>
              </a:lnSpc>
            </a:pPr>
            <a:r>
              <a:rPr lang="en-US" sz="3000" b="true">
                <a:solidFill>
                  <a:srgbClr val="D33078"/>
                </a:solidFill>
                <a:latin typeface="Calibri (MS) Bold"/>
                <a:ea typeface="Calibri (MS) Bold"/>
                <a:cs typeface="Calibri (MS) Bold"/>
                <a:sym typeface="Calibri (MS) Bold"/>
              </a:rPr>
              <a:t>Machine Learning</a:t>
            </a:r>
          </a:p>
        </p:txBody>
      </p:sp>
      <p:sp>
        <p:nvSpPr>
          <p:cNvPr name="TextBox 12" id="12"/>
          <p:cNvSpPr txBox="true"/>
          <p:nvPr/>
        </p:nvSpPr>
        <p:spPr>
          <a:xfrm rot="0">
            <a:off x="1326842" y="3849976"/>
            <a:ext cx="4484208" cy="2352675"/>
          </a:xfrm>
          <a:prstGeom prst="rect">
            <a:avLst/>
          </a:prstGeom>
        </p:spPr>
        <p:txBody>
          <a:bodyPr anchor="t" rtlCol="false" tIns="0" lIns="0" bIns="0" rIns="0">
            <a:spAutoFit/>
          </a:bodyPr>
          <a:lstStyle/>
          <a:p>
            <a:pPr algn="l">
              <a:lnSpc>
                <a:spcPts val="3600"/>
              </a:lnSpc>
            </a:pPr>
            <a:r>
              <a:rPr lang="en-US" sz="3000">
                <a:solidFill>
                  <a:srgbClr val="000000"/>
                </a:solidFill>
                <a:latin typeface="Calibri (MS)"/>
                <a:ea typeface="Calibri (MS)"/>
                <a:cs typeface="Calibri (MS)"/>
                <a:sym typeface="Calibri (MS)"/>
              </a:rPr>
              <a:t>A Random Forest classifier predicts a maternal pregnancy risk category from 14 health and pregnancy-related features.</a:t>
            </a:r>
          </a:p>
        </p:txBody>
      </p:sp>
      <p:grpSp>
        <p:nvGrpSpPr>
          <p:cNvPr name="Group 13" id="13"/>
          <p:cNvGrpSpPr/>
          <p:nvPr/>
        </p:nvGrpSpPr>
        <p:grpSpPr>
          <a:xfrm rot="0">
            <a:off x="6513043" y="2257758"/>
            <a:ext cx="5230454" cy="4545510"/>
            <a:chOff x="0" y="0"/>
            <a:chExt cx="6973938" cy="6060680"/>
          </a:xfrm>
        </p:grpSpPr>
        <p:sp>
          <p:nvSpPr>
            <p:cNvPr name="Freeform 14" id="14"/>
            <p:cNvSpPr/>
            <p:nvPr/>
          </p:nvSpPr>
          <p:spPr>
            <a:xfrm flipH="false" flipV="false" rot="0">
              <a:off x="0" y="0"/>
              <a:ext cx="6973951" cy="6060694"/>
            </a:xfrm>
            <a:custGeom>
              <a:avLst/>
              <a:gdLst/>
              <a:ahLst/>
              <a:cxnLst/>
              <a:rect r="r" b="b" t="t" l="l"/>
              <a:pathLst>
                <a:path h="6060694" w="6973951">
                  <a:moveTo>
                    <a:pt x="0" y="834825"/>
                  </a:moveTo>
                  <a:cubicBezTo>
                    <a:pt x="0" y="373810"/>
                    <a:pt x="520446" y="0"/>
                    <a:pt x="1162304" y="0"/>
                  </a:cubicBezTo>
                  <a:lnTo>
                    <a:pt x="5811647" y="0"/>
                  </a:lnTo>
                  <a:cubicBezTo>
                    <a:pt x="6453632" y="0"/>
                    <a:pt x="6973951" y="373810"/>
                    <a:pt x="6973951" y="834825"/>
                  </a:cubicBezTo>
                  <a:lnTo>
                    <a:pt x="6973951" y="5225865"/>
                  </a:lnTo>
                  <a:cubicBezTo>
                    <a:pt x="6973951" y="5686971"/>
                    <a:pt x="6453505" y="6060694"/>
                    <a:pt x="5811647" y="6060694"/>
                  </a:cubicBezTo>
                  <a:lnTo>
                    <a:pt x="1162304" y="6060694"/>
                  </a:lnTo>
                  <a:cubicBezTo>
                    <a:pt x="520446" y="6060693"/>
                    <a:pt x="0" y="5686879"/>
                    <a:pt x="0" y="5225865"/>
                  </a:cubicBezTo>
                  <a:close/>
                </a:path>
              </a:pathLst>
            </a:custGeom>
            <a:solidFill>
              <a:srgbClr val="FFFFFF"/>
            </a:solidFill>
            <a:ln w="14299" cap="sq">
              <a:solidFill>
                <a:srgbClr val="E6DCED"/>
              </a:solidFill>
              <a:prstDash val="solid"/>
              <a:miter/>
            </a:ln>
          </p:spPr>
        </p:sp>
      </p:grpSp>
      <p:sp>
        <p:nvSpPr>
          <p:cNvPr name="TextBox 15" id="15"/>
          <p:cNvSpPr txBox="true"/>
          <p:nvPr/>
        </p:nvSpPr>
        <p:spPr>
          <a:xfrm rot="0">
            <a:off x="6886165" y="2449859"/>
            <a:ext cx="572091" cy="524304"/>
          </a:xfrm>
          <a:prstGeom prst="rect">
            <a:avLst/>
          </a:prstGeom>
        </p:spPr>
        <p:txBody>
          <a:bodyPr anchor="t" rtlCol="false" tIns="0" lIns="0" bIns="0" rIns="0">
            <a:spAutoFit/>
          </a:bodyPr>
          <a:lstStyle/>
          <a:p>
            <a:pPr algn="l">
              <a:lnSpc>
                <a:spcPts val="3782"/>
              </a:lnSpc>
            </a:pPr>
            <a:r>
              <a:rPr lang="en-US" sz="3152">
                <a:solidFill>
                  <a:srgbClr val="000000"/>
                </a:solidFill>
                <a:latin typeface="Calibri (MS)"/>
                <a:ea typeface="Calibri (MS)"/>
                <a:cs typeface="Calibri (MS)"/>
                <a:sym typeface="Calibri (MS)"/>
              </a:rPr>
              <a:t>💬</a:t>
            </a:r>
          </a:p>
        </p:txBody>
      </p:sp>
      <p:sp>
        <p:nvSpPr>
          <p:cNvPr name="TextBox 16" id="16"/>
          <p:cNvSpPr txBox="true"/>
          <p:nvPr/>
        </p:nvSpPr>
        <p:spPr>
          <a:xfrm rot="0">
            <a:off x="6886165" y="3095015"/>
            <a:ext cx="4484208" cy="523875"/>
          </a:xfrm>
          <a:prstGeom prst="rect">
            <a:avLst/>
          </a:prstGeom>
        </p:spPr>
        <p:txBody>
          <a:bodyPr anchor="t" rtlCol="false" tIns="0" lIns="0" bIns="0" rIns="0">
            <a:spAutoFit/>
          </a:bodyPr>
          <a:lstStyle/>
          <a:p>
            <a:pPr algn="l">
              <a:lnSpc>
                <a:spcPts val="3600"/>
              </a:lnSpc>
            </a:pPr>
            <a:r>
              <a:rPr lang="en-US" sz="3000" b="true">
                <a:solidFill>
                  <a:srgbClr val="6940A4"/>
                </a:solidFill>
                <a:latin typeface="Calibri (MS) Bold"/>
                <a:ea typeface="Calibri (MS) Bold"/>
                <a:cs typeface="Calibri (MS) Bold"/>
                <a:sym typeface="Calibri (MS) Bold"/>
              </a:rPr>
              <a:t>RAG Chatbot</a:t>
            </a:r>
          </a:p>
        </p:txBody>
      </p:sp>
      <p:sp>
        <p:nvSpPr>
          <p:cNvPr name="TextBox 17" id="17"/>
          <p:cNvSpPr txBox="true"/>
          <p:nvPr/>
        </p:nvSpPr>
        <p:spPr>
          <a:xfrm rot="0">
            <a:off x="6886165" y="3849976"/>
            <a:ext cx="4484208" cy="2352675"/>
          </a:xfrm>
          <a:prstGeom prst="rect">
            <a:avLst/>
          </a:prstGeom>
        </p:spPr>
        <p:txBody>
          <a:bodyPr anchor="t" rtlCol="false" tIns="0" lIns="0" bIns="0" rIns="0">
            <a:spAutoFit/>
          </a:bodyPr>
          <a:lstStyle/>
          <a:p>
            <a:pPr algn="l">
              <a:lnSpc>
                <a:spcPts val="3600"/>
              </a:lnSpc>
            </a:pPr>
            <a:r>
              <a:rPr lang="en-US" sz="3000">
                <a:solidFill>
                  <a:srgbClr val="000000"/>
                </a:solidFill>
                <a:latin typeface="Calibri (MS)"/>
                <a:ea typeface="Calibri (MS)"/>
                <a:cs typeface="Calibri (MS)"/>
                <a:sym typeface="Calibri (MS)"/>
              </a:rPr>
              <a:t>Relevant passages are retrieved from a trusted knowledge base before Gemini generates the educational response.</a:t>
            </a:r>
          </a:p>
        </p:txBody>
      </p:sp>
      <p:grpSp>
        <p:nvGrpSpPr>
          <p:cNvPr name="Group 18" id="18"/>
          <p:cNvGrpSpPr/>
          <p:nvPr/>
        </p:nvGrpSpPr>
        <p:grpSpPr>
          <a:xfrm rot="0">
            <a:off x="12072366" y="2257758"/>
            <a:ext cx="5230454" cy="4545510"/>
            <a:chOff x="0" y="0"/>
            <a:chExt cx="6973938" cy="6060680"/>
          </a:xfrm>
        </p:grpSpPr>
        <p:sp>
          <p:nvSpPr>
            <p:cNvPr name="Freeform 19" id="19"/>
            <p:cNvSpPr/>
            <p:nvPr/>
          </p:nvSpPr>
          <p:spPr>
            <a:xfrm flipH="false" flipV="false" rot="0">
              <a:off x="0" y="0"/>
              <a:ext cx="6973951" cy="6060694"/>
            </a:xfrm>
            <a:custGeom>
              <a:avLst/>
              <a:gdLst/>
              <a:ahLst/>
              <a:cxnLst/>
              <a:rect r="r" b="b" t="t" l="l"/>
              <a:pathLst>
                <a:path h="6060694" w="6973951">
                  <a:moveTo>
                    <a:pt x="0" y="834825"/>
                  </a:moveTo>
                  <a:cubicBezTo>
                    <a:pt x="0" y="373810"/>
                    <a:pt x="520446" y="0"/>
                    <a:pt x="1162304" y="0"/>
                  </a:cubicBezTo>
                  <a:lnTo>
                    <a:pt x="5811647" y="0"/>
                  </a:lnTo>
                  <a:cubicBezTo>
                    <a:pt x="6453632" y="0"/>
                    <a:pt x="6973951" y="373810"/>
                    <a:pt x="6973951" y="834825"/>
                  </a:cubicBezTo>
                  <a:lnTo>
                    <a:pt x="6973951" y="5225865"/>
                  </a:lnTo>
                  <a:cubicBezTo>
                    <a:pt x="6973951" y="5686971"/>
                    <a:pt x="6453505" y="6060694"/>
                    <a:pt x="5811647" y="6060694"/>
                  </a:cubicBezTo>
                  <a:lnTo>
                    <a:pt x="1162304" y="6060694"/>
                  </a:lnTo>
                  <a:cubicBezTo>
                    <a:pt x="520446" y="6060693"/>
                    <a:pt x="0" y="5686879"/>
                    <a:pt x="0" y="5225865"/>
                  </a:cubicBezTo>
                  <a:close/>
                </a:path>
              </a:pathLst>
            </a:custGeom>
            <a:solidFill>
              <a:srgbClr val="FFFFFF"/>
            </a:solidFill>
            <a:ln w="14299" cap="sq">
              <a:solidFill>
                <a:srgbClr val="E6DCED"/>
              </a:solidFill>
              <a:prstDash val="solid"/>
              <a:miter/>
            </a:ln>
          </p:spPr>
        </p:sp>
      </p:grpSp>
      <p:sp>
        <p:nvSpPr>
          <p:cNvPr name="TextBox 20" id="20"/>
          <p:cNvSpPr txBox="true"/>
          <p:nvPr/>
        </p:nvSpPr>
        <p:spPr>
          <a:xfrm rot="0">
            <a:off x="12445489" y="2449859"/>
            <a:ext cx="572091" cy="524304"/>
          </a:xfrm>
          <a:prstGeom prst="rect">
            <a:avLst/>
          </a:prstGeom>
        </p:spPr>
        <p:txBody>
          <a:bodyPr anchor="t" rtlCol="false" tIns="0" lIns="0" bIns="0" rIns="0">
            <a:spAutoFit/>
          </a:bodyPr>
          <a:lstStyle/>
          <a:p>
            <a:pPr algn="l">
              <a:lnSpc>
                <a:spcPts val="3782"/>
              </a:lnSpc>
            </a:pPr>
            <a:r>
              <a:rPr lang="en-US" sz="3152">
                <a:solidFill>
                  <a:srgbClr val="000000"/>
                </a:solidFill>
                <a:latin typeface="Calibri (MS)"/>
                <a:ea typeface="Calibri (MS)"/>
                <a:cs typeface="Calibri (MS)"/>
                <a:sym typeface="Calibri (MS)"/>
              </a:rPr>
              <a:t>🖥️</a:t>
            </a:r>
          </a:p>
        </p:txBody>
      </p:sp>
      <p:sp>
        <p:nvSpPr>
          <p:cNvPr name="TextBox 21" id="21"/>
          <p:cNvSpPr txBox="true"/>
          <p:nvPr/>
        </p:nvSpPr>
        <p:spPr>
          <a:xfrm rot="0">
            <a:off x="12445489" y="3095015"/>
            <a:ext cx="4484208" cy="523875"/>
          </a:xfrm>
          <a:prstGeom prst="rect">
            <a:avLst/>
          </a:prstGeom>
        </p:spPr>
        <p:txBody>
          <a:bodyPr anchor="t" rtlCol="false" tIns="0" lIns="0" bIns="0" rIns="0">
            <a:spAutoFit/>
          </a:bodyPr>
          <a:lstStyle/>
          <a:p>
            <a:pPr algn="l">
              <a:lnSpc>
                <a:spcPts val="3600"/>
              </a:lnSpc>
            </a:pPr>
            <a:r>
              <a:rPr lang="en-US" sz="3000" b="true">
                <a:solidFill>
                  <a:srgbClr val="26915E"/>
                </a:solidFill>
                <a:latin typeface="Calibri (MS) Bold"/>
                <a:ea typeface="Calibri (MS) Bold"/>
                <a:cs typeface="Calibri (MS) Bold"/>
                <a:sym typeface="Calibri (MS) Bold"/>
              </a:rPr>
              <a:t>Simple UI</a:t>
            </a:r>
          </a:p>
        </p:txBody>
      </p:sp>
      <p:sp>
        <p:nvSpPr>
          <p:cNvPr name="TextBox 22" id="22"/>
          <p:cNvSpPr txBox="true"/>
          <p:nvPr/>
        </p:nvSpPr>
        <p:spPr>
          <a:xfrm rot="0">
            <a:off x="12445489" y="3849976"/>
            <a:ext cx="4484208" cy="2352675"/>
          </a:xfrm>
          <a:prstGeom prst="rect">
            <a:avLst/>
          </a:prstGeom>
        </p:spPr>
        <p:txBody>
          <a:bodyPr anchor="t" rtlCol="false" tIns="0" lIns="0" bIns="0" rIns="0">
            <a:spAutoFit/>
          </a:bodyPr>
          <a:lstStyle/>
          <a:p>
            <a:pPr algn="l">
              <a:lnSpc>
                <a:spcPts val="3600"/>
              </a:lnSpc>
            </a:pPr>
            <a:r>
              <a:rPr lang="en-US" sz="3000">
                <a:solidFill>
                  <a:srgbClr val="000000"/>
                </a:solidFill>
                <a:latin typeface="Calibri (MS)"/>
                <a:ea typeface="Calibri (MS)"/>
                <a:cs typeface="Calibri (MS)"/>
                <a:sym typeface="Calibri (MS)"/>
              </a:rPr>
              <a:t>A Streamlit interface brings the risk assessment and pregnancy information assistant together in one user-friendly application.</a:t>
            </a:r>
          </a:p>
        </p:txBody>
      </p:sp>
      <p:sp>
        <p:nvSpPr>
          <p:cNvPr name="TextBox 23" id="23"/>
          <p:cNvSpPr txBox="true"/>
          <p:nvPr/>
        </p:nvSpPr>
        <p:spPr>
          <a:xfrm rot="0">
            <a:off x="16151704" y="9735664"/>
            <a:ext cx="915257" cy="280302"/>
          </a:xfrm>
          <a:prstGeom prst="rect">
            <a:avLst/>
          </a:prstGeom>
        </p:spPr>
        <p:txBody>
          <a:bodyPr anchor="t" rtlCol="false" tIns="0" lIns="0" bIns="0" rIns="0">
            <a:spAutoFit/>
          </a:bodyPr>
          <a:lstStyle/>
          <a:p>
            <a:pPr algn="r">
              <a:lnSpc>
                <a:spcPts val="1621"/>
              </a:lnSpc>
            </a:pPr>
            <a:r>
              <a:rPr lang="en-US" sz="1351">
                <a:solidFill>
                  <a:srgbClr val="6E6574"/>
                </a:solidFill>
                <a:latin typeface="Calibri (MS)"/>
                <a:ea typeface="Calibri (MS)"/>
                <a:cs typeface="Calibri (MS)"/>
                <a:sym typeface="Calibri (MS)"/>
              </a:rPr>
              <a:t>3</a:t>
            </a:r>
          </a:p>
        </p:txBody>
      </p:sp>
      <p:sp>
        <p:nvSpPr>
          <p:cNvPr name="TextBox 24" id="24"/>
          <p:cNvSpPr txBox="true"/>
          <p:nvPr/>
        </p:nvSpPr>
        <p:spPr>
          <a:xfrm rot="0">
            <a:off x="1299396" y="7308094"/>
            <a:ext cx="15465590" cy="1438275"/>
          </a:xfrm>
          <a:prstGeom prst="rect">
            <a:avLst/>
          </a:prstGeom>
        </p:spPr>
        <p:txBody>
          <a:bodyPr anchor="t" rtlCol="false" tIns="0" lIns="0" bIns="0" rIns="0">
            <a:spAutoFit/>
          </a:bodyPr>
          <a:lstStyle/>
          <a:p>
            <a:pPr algn="l">
              <a:lnSpc>
                <a:spcPts val="3600"/>
              </a:lnSpc>
            </a:pPr>
            <a:r>
              <a:rPr lang="en-US" sz="3000">
                <a:solidFill>
                  <a:srgbClr val="000000"/>
                </a:solidFill>
                <a:latin typeface="Calibri (MS)"/>
                <a:ea typeface="Calibri (MS)"/>
                <a:cs typeface="Calibri (MS)"/>
                <a:sym typeface="Calibri (MS)"/>
              </a:rPr>
              <a:t>• Reduce time spent on preliminary risk assessment through automated prediction.</a:t>
            </a:r>
          </a:p>
          <a:p>
            <a:pPr algn="l">
              <a:lnSpc>
                <a:spcPts val="3600"/>
              </a:lnSpc>
            </a:pPr>
            <a:r>
              <a:rPr lang="en-US" sz="3000">
                <a:solidFill>
                  <a:srgbClr val="000000"/>
                </a:solidFill>
                <a:latin typeface="Calibri (MS)"/>
                <a:ea typeface="Calibri (MS)"/>
                <a:cs typeface="Calibri (MS)"/>
                <a:sym typeface="Calibri (MS)"/>
              </a:rPr>
              <a:t>• Improve access to understandable maternal-health education.</a:t>
            </a:r>
          </a:p>
          <a:p>
            <a:pPr algn="l">
              <a:lnSpc>
                <a:spcPts val="3600"/>
              </a:lnSpc>
            </a:pPr>
            <a:r>
              <a:rPr lang="en-US" sz="3000">
                <a:solidFill>
                  <a:srgbClr val="000000"/>
                </a:solidFill>
                <a:latin typeface="Calibri (MS)"/>
                <a:ea typeface="Calibri (MS)"/>
                <a:cs typeface="Calibri (MS)"/>
                <a:sym typeface="Calibri (MS)"/>
              </a:rPr>
              <a:t>• Help healthcare professionals focus attention on cases requiring clinical assessment.</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4" id="4"/>
          <p:cNvGrpSpPr/>
          <p:nvPr/>
        </p:nvGrpSpPr>
        <p:grpSpPr>
          <a:xfrm rot="0">
            <a:off x="0" y="0"/>
            <a:ext cx="18301840" cy="164725"/>
            <a:chOff x="0" y="0"/>
            <a:chExt cx="24402453" cy="219634"/>
          </a:xfrm>
        </p:grpSpPr>
        <p:sp>
          <p:nvSpPr>
            <p:cNvPr name="Freeform 5" id="5"/>
            <p:cNvSpPr/>
            <p:nvPr/>
          </p:nvSpPr>
          <p:spPr>
            <a:xfrm flipH="false" flipV="false" rot="0">
              <a:off x="0" y="0"/>
              <a:ext cx="24402414" cy="219583"/>
            </a:xfrm>
            <a:custGeom>
              <a:avLst/>
              <a:gdLst/>
              <a:ahLst/>
              <a:cxnLst/>
              <a:rect r="r" b="b" t="t" l="l"/>
              <a:pathLst>
                <a:path h="219583" w="24402414">
                  <a:moveTo>
                    <a:pt x="0" y="0"/>
                  </a:moveTo>
                  <a:lnTo>
                    <a:pt x="24402414" y="0"/>
                  </a:lnTo>
                  <a:lnTo>
                    <a:pt x="24402414" y="219583"/>
                  </a:lnTo>
                  <a:lnTo>
                    <a:pt x="0" y="219583"/>
                  </a:lnTo>
                  <a:close/>
                </a:path>
              </a:pathLst>
            </a:custGeom>
            <a:solidFill>
              <a:srgbClr val="D33078"/>
            </a:solidFill>
          </p:spPr>
        </p:sp>
      </p:grpSp>
      <p:sp>
        <p:nvSpPr>
          <p:cNvPr name="TextBox 6" id="6"/>
          <p:cNvSpPr txBox="true"/>
          <p:nvPr/>
        </p:nvSpPr>
        <p:spPr>
          <a:xfrm rot="0">
            <a:off x="983675" y="526990"/>
            <a:ext cx="16289188" cy="896045"/>
          </a:xfrm>
          <a:prstGeom prst="rect">
            <a:avLst/>
          </a:prstGeom>
        </p:spPr>
        <p:txBody>
          <a:bodyPr anchor="t" rtlCol="false" tIns="0" lIns="0" bIns="0" rIns="0">
            <a:spAutoFit/>
          </a:bodyPr>
          <a:lstStyle/>
          <a:p>
            <a:pPr algn="l">
              <a:lnSpc>
                <a:spcPts val="5224"/>
              </a:lnSpc>
            </a:pPr>
            <a:r>
              <a:rPr lang="en-US" sz="4353" b="true">
                <a:solidFill>
                  <a:srgbClr val="301948"/>
                </a:solidFill>
                <a:latin typeface="Calibri (MS) Bold"/>
                <a:ea typeface="Calibri (MS) Bold"/>
                <a:cs typeface="Calibri (MS) Bold"/>
                <a:sym typeface="Calibri (MS) Bold"/>
              </a:rPr>
              <a:t>Data &amp; Knowledge Base</a:t>
            </a:r>
          </a:p>
        </p:txBody>
      </p:sp>
      <p:sp>
        <p:nvSpPr>
          <p:cNvPr name="TextBox 7" id="7"/>
          <p:cNvSpPr txBox="true"/>
          <p:nvPr/>
        </p:nvSpPr>
        <p:spPr>
          <a:xfrm rot="0">
            <a:off x="1024861" y="1420349"/>
            <a:ext cx="16014659" cy="523875"/>
          </a:xfrm>
          <a:prstGeom prst="rect">
            <a:avLst/>
          </a:prstGeom>
        </p:spPr>
        <p:txBody>
          <a:bodyPr anchor="t" rtlCol="false" tIns="0" lIns="0" bIns="0" rIns="0">
            <a:spAutoFit/>
          </a:bodyPr>
          <a:lstStyle/>
          <a:p>
            <a:pPr algn="l">
              <a:lnSpc>
                <a:spcPts val="3600"/>
              </a:lnSpc>
            </a:pPr>
            <a:r>
              <a:rPr lang="en-US" sz="3000">
                <a:solidFill>
                  <a:srgbClr val="000000"/>
                </a:solidFill>
                <a:latin typeface="Calibri (MS)"/>
                <a:ea typeface="Calibri (MS)"/>
                <a:cs typeface="Calibri (MS)"/>
                <a:sym typeface="Calibri (MS)"/>
              </a:rPr>
              <a:t>Two sources of intelligence power PJP</a:t>
            </a:r>
          </a:p>
        </p:txBody>
      </p:sp>
      <p:grpSp>
        <p:nvGrpSpPr>
          <p:cNvPr name="Group 8" id="8"/>
          <p:cNvGrpSpPr/>
          <p:nvPr/>
        </p:nvGrpSpPr>
        <p:grpSpPr>
          <a:xfrm rot="0">
            <a:off x="953719" y="2189131"/>
            <a:ext cx="8044434" cy="6671758"/>
            <a:chOff x="0" y="0"/>
            <a:chExt cx="10725912" cy="8895677"/>
          </a:xfrm>
        </p:grpSpPr>
        <p:sp>
          <p:nvSpPr>
            <p:cNvPr name="Freeform 9" id="9"/>
            <p:cNvSpPr/>
            <p:nvPr/>
          </p:nvSpPr>
          <p:spPr>
            <a:xfrm flipH="false" flipV="false" rot="0">
              <a:off x="0" y="0"/>
              <a:ext cx="10725912" cy="8895588"/>
            </a:xfrm>
            <a:custGeom>
              <a:avLst/>
              <a:gdLst/>
              <a:ahLst/>
              <a:cxnLst/>
              <a:rect r="r" b="b" t="t" l="l"/>
              <a:pathLst>
                <a:path h="8895588" w="10725912">
                  <a:moveTo>
                    <a:pt x="0" y="1482598"/>
                  </a:moveTo>
                  <a:cubicBezTo>
                    <a:pt x="0" y="663829"/>
                    <a:pt x="663829" y="0"/>
                    <a:pt x="1482598" y="0"/>
                  </a:cubicBezTo>
                  <a:lnTo>
                    <a:pt x="9243314" y="0"/>
                  </a:lnTo>
                  <a:cubicBezTo>
                    <a:pt x="10062210" y="0"/>
                    <a:pt x="10725912" y="663829"/>
                    <a:pt x="10725912" y="1482598"/>
                  </a:cubicBezTo>
                  <a:lnTo>
                    <a:pt x="10725912" y="7412990"/>
                  </a:lnTo>
                  <a:cubicBezTo>
                    <a:pt x="10725912" y="8231886"/>
                    <a:pt x="10062083" y="8895588"/>
                    <a:pt x="9243314" y="8895588"/>
                  </a:cubicBezTo>
                  <a:lnTo>
                    <a:pt x="1482598" y="8895588"/>
                  </a:lnTo>
                  <a:cubicBezTo>
                    <a:pt x="663829" y="8895715"/>
                    <a:pt x="0" y="8231886"/>
                    <a:pt x="0" y="7412990"/>
                  </a:cubicBezTo>
                  <a:close/>
                </a:path>
              </a:pathLst>
            </a:custGeom>
            <a:solidFill>
              <a:srgbClr val="FFFFFF"/>
            </a:solidFill>
            <a:ln w="14299" cap="sq">
              <a:solidFill>
                <a:srgbClr val="E6DCED"/>
              </a:solidFill>
              <a:prstDash val="solid"/>
              <a:miter/>
            </a:ln>
          </p:spPr>
        </p:sp>
      </p:grpSp>
      <p:sp>
        <p:nvSpPr>
          <p:cNvPr name="TextBox 10" id="10"/>
          <p:cNvSpPr txBox="true"/>
          <p:nvPr/>
        </p:nvSpPr>
        <p:spPr>
          <a:xfrm rot="0">
            <a:off x="1326842" y="2381221"/>
            <a:ext cx="572091" cy="524304"/>
          </a:xfrm>
          <a:prstGeom prst="rect">
            <a:avLst/>
          </a:prstGeom>
        </p:spPr>
        <p:txBody>
          <a:bodyPr anchor="t" rtlCol="false" tIns="0" lIns="0" bIns="0" rIns="0">
            <a:spAutoFit/>
          </a:bodyPr>
          <a:lstStyle/>
          <a:p>
            <a:pPr algn="l">
              <a:lnSpc>
                <a:spcPts val="3782"/>
              </a:lnSpc>
            </a:pPr>
            <a:r>
              <a:rPr lang="en-US" sz="3152">
                <a:solidFill>
                  <a:srgbClr val="000000"/>
                </a:solidFill>
                <a:latin typeface="Calibri (MS)"/>
                <a:ea typeface="Calibri (MS)"/>
                <a:cs typeface="Calibri (MS)"/>
                <a:sym typeface="Calibri (MS)"/>
              </a:rPr>
              <a:t>📊</a:t>
            </a:r>
          </a:p>
        </p:txBody>
      </p:sp>
      <p:sp>
        <p:nvSpPr>
          <p:cNvPr name="TextBox 11" id="11"/>
          <p:cNvSpPr txBox="true"/>
          <p:nvPr/>
        </p:nvSpPr>
        <p:spPr>
          <a:xfrm rot="0">
            <a:off x="1326842" y="3026378"/>
            <a:ext cx="7298179" cy="523875"/>
          </a:xfrm>
          <a:prstGeom prst="rect">
            <a:avLst/>
          </a:prstGeom>
        </p:spPr>
        <p:txBody>
          <a:bodyPr anchor="t" rtlCol="false" tIns="0" lIns="0" bIns="0" rIns="0">
            <a:spAutoFit/>
          </a:bodyPr>
          <a:lstStyle/>
          <a:p>
            <a:pPr algn="l">
              <a:lnSpc>
                <a:spcPts val="3600"/>
              </a:lnSpc>
            </a:pPr>
            <a:r>
              <a:rPr lang="en-US" sz="3000" b="true">
                <a:solidFill>
                  <a:srgbClr val="D33078"/>
                </a:solidFill>
                <a:latin typeface="Calibri (MS) Bold"/>
                <a:ea typeface="Calibri (MS) Bold"/>
                <a:cs typeface="Calibri (MS) Bold"/>
                <a:sym typeface="Calibri (MS) Bold"/>
              </a:rPr>
              <a:t>Machine Learning Dataset</a:t>
            </a:r>
          </a:p>
        </p:txBody>
      </p:sp>
      <p:sp>
        <p:nvSpPr>
          <p:cNvPr name="TextBox 12" id="12"/>
          <p:cNvSpPr txBox="true"/>
          <p:nvPr/>
        </p:nvSpPr>
        <p:spPr>
          <a:xfrm rot="0">
            <a:off x="1326842" y="3790874"/>
            <a:ext cx="7298179" cy="4152900"/>
          </a:xfrm>
          <a:prstGeom prst="rect">
            <a:avLst/>
          </a:prstGeom>
        </p:spPr>
        <p:txBody>
          <a:bodyPr anchor="t" rtlCol="false" tIns="0" lIns="0" bIns="0" rIns="0">
            <a:spAutoFit/>
          </a:bodyPr>
          <a:lstStyle/>
          <a:p>
            <a:pPr algn="l">
              <a:lnSpc>
                <a:spcPts val="3240"/>
              </a:lnSpc>
            </a:pPr>
            <a:r>
              <a:rPr lang="en-US" sz="2700">
                <a:solidFill>
                  <a:srgbClr val="000000"/>
                </a:solidFill>
                <a:latin typeface="Calibri (MS)"/>
                <a:ea typeface="Calibri (MS)"/>
                <a:cs typeface="Calibri (MS)"/>
                <a:sym typeface="Calibri (MS)"/>
              </a:rPr>
              <a:t>Synthetic maternal health and pregnancy records from Electric Sheep Africa via Hugging Face.</a:t>
            </a:r>
          </a:p>
          <a:p>
            <a:pPr algn="l">
              <a:lnSpc>
                <a:spcPts val="3240"/>
              </a:lnSpc>
            </a:pPr>
          </a:p>
          <a:p>
            <a:pPr algn="l">
              <a:lnSpc>
                <a:spcPts val="3240"/>
              </a:lnSpc>
            </a:pPr>
            <a:r>
              <a:rPr lang="en-US" sz="2700">
                <a:solidFill>
                  <a:srgbClr val="000000"/>
                </a:solidFill>
                <a:latin typeface="Calibri (MS)"/>
                <a:ea typeface="Calibri (MS)"/>
                <a:cs typeface="Calibri (MS)"/>
                <a:sym typeface="Calibri (MS)"/>
              </a:rPr>
              <a:t>Features include age, gravidity, parity, gestational age, BMI, blood pressure, haemoglobin, glucose, proteinuria, HIV status, ANC visits, delivery mode, pregnancy outcome and risk level.</a:t>
            </a:r>
          </a:p>
          <a:p>
            <a:pPr algn="l">
              <a:lnSpc>
                <a:spcPts val="3240"/>
              </a:lnSpc>
            </a:pPr>
          </a:p>
          <a:p>
            <a:pPr algn="l">
              <a:lnSpc>
                <a:spcPts val="3240"/>
              </a:lnSpc>
            </a:pPr>
            <a:r>
              <a:rPr lang="en-US" sz="2700">
                <a:solidFill>
                  <a:srgbClr val="000000"/>
                </a:solidFill>
                <a:latin typeface="Calibri (MS)"/>
                <a:ea typeface="Calibri (MS)"/>
                <a:cs typeface="Calibri (MS)"/>
                <a:sym typeface="Calibri (MS)"/>
              </a:rPr>
              <a:t>The dataset is synthetic and contains no real patient information.</a:t>
            </a:r>
          </a:p>
        </p:txBody>
      </p:sp>
      <p:grpSp>
        <p:nvGrpSpPr>
          <p:cNvPr name="Group 13" id="13"/>
          <p:cNvGrpSpPr/>
          <p:nvPr/>
        </p:nvGrpSpPr>
        <p:grpSpPr>
          <a:xfrm rot="0">
            <a:off x="9327023" y="2189131"/>
            <a:ext cx="8044434" cy="6671758"/>
            <a:chOff x="0" y="0"/>
            <a:chExt cx="10725912" cy="8895677"/>
          </a:xfrm>
        </p:grpSpPr>
        <p:sp>
          <p:nvSpPr>
            <p:cNvPr name="Freeform 14" id="14"/>
            <p:cNvSpPr/>
            <p:nvPr/>
          </p:nvSpPr>
          <p:spPr>
            <a:xfrm flipH="false" flipV="false" rot="0">
              <a:off x="0" y="0"/>
              <a:ext cx="10725912" cy="8895588"/>
            </a:xfrm>
            <a:custGeom>
              <a:avLst/>
              <a:gdLst/>
              <a:ahLst/>
              <a:cxnLst/>
              <a:rect r="r" b="b" t="t" l="l"/>
              <a:pathLst>
                <a:path h="8895588" w="10725912">
                  <a:moveTo>
                    <a:pt x="0" y="1482598"/>
                  </a:moveTo>
                  <a:cubicBezTo>
                    <a:pt x="0" y="663829"/>
                    <a:pt x="663829" y="0"/>
                    <a:pt x="1482598" y="0"/>
                  </a:cubicBezTo>
                  <a:lnTo>
                    <a:pt x="9243314" y="0"/>
                  </a:lnTo>
                  <a:cubicBezTo>
                    <a:pt x="10062210" y="0"/>
                    <a:pt x="10725912" y="663829"/>
                    <a:pt x="10725912" y="1482598"/>
                  </a:cubicBezTo>
                  <a:lnTo>
                    <a:pt x="10725912" y="7412990"/>
                  </a:lnTo>
                  <a:cubicBezTo>
                    <a:pt x="10725912" y="8231886"/>
                    <a:pt x="10062083" y="8895588"/>
                    <a:pt x="9243314" y="8895588"/>
                  </a:cubicBezTo>
                  <a:lnTo>
                    <a:pt x="1482598" y="8895588"/>
                  </a:lnTo>
                  <a:cubicBezTo>
                    <a:pt x="663829" y="8895715"/>
                    <a:pt x="0" y="8231886"/>
                    <a:pt x="0" y="7412990"/>
                  </a:cubicBezTo>
                  <a:close/>
                </a:path>
              </a:pathLst>
            </a:custGeom>
            <a:solidFill>
              <a:srgbClr val="FFFFFF"/>
            </a:solidFill>
            <a:ln w="14299" cap="sq">
              <a:solidFill>
                <a:srgbClr val="E6DCED"/>
              </a:solidFill>
              <a:prstDash val="solid"/>
              <a:miter/>
            </a:ln>
          </p:spPr>
        </p:sp>
      </p:grpSp>
      <p:sp>
        <p:nvSpPr>
          <p:cNvPr name="TextBox 15" id="15"/>
          <p:cNvSpPr txBox="true"/>
          <p:nvPr/>
        </p:nvSpPr>
        <p:spPr>
          <a:xfrm rot="0">
            <a:off x="9700146" y="2381221"/>
            <a:ext cx="572091" cy="524304"/>
          </a:xfrm>
          <a:prstGeom prst="rect">
            <a:avLst/>
          </a:prstGeom>
        </p:spPr>
        <p:txBody>
          <a:bodyPr anchor="t" rtlCol="false" tIns="0" lIns="0" bIns="0" rIns="0">
            <a:spAutoFit/>
          </a:bodyPr>
          <a:lstStyle/>
          <a:p>
            <a:pPr algn="l">
              <a:lnSpc>
                <a:spcPts val="3782"/>
              </a:lnSpc>
            </a:pPr>
            <a:r>
              <a:rPr lang="en-US" sz="3152">
                <a:solidFill>
                  <a:srgbClr val="000000"/>
                </a:solidFill>
                <a:latin typeface="Calibri (MS)"/>
                <a:ea typeface="Calibri (MS)"/>
                <a:cs typeface="Calibri (MS)"/>
                <a:sym typeface="Calibri (MS)"/>
              </a:rPr>
              <a:t>📚</a:t>
            </a:r>
          </a:p>
        </p:txBody>
      </p:sp>
      <p:sp>
        <p:nvSpPr>
          <p:cNvPr name="TextBox 16" id="16"/>
          <p:cNvSpPr txBox="true"/>
          <p:nvPr/>
        </p:nvSpPr>
        <p:spPr>
          <a:xfrm rot="0">
            <a:off x="9700146" y="3026378"/>
            <a:ext cx="7298179" cy="523875"/>
          </a:xfrm>
          <a:prstGeom prst="rect">
            <a:avLst/>
          </a:prstGeom>
        </p:spPr>
        <p:txBody>
          <a:bodyPr anchor="t" rtlCol="false" tIns="0" lIns="0" bIns="0" rIns="0">
            <a:spAutoFit/>
          </a:bodyPr>
          <a:lstStyle/>
          <a:p>
            <a:pPr algn="l">
              <a:lnSpc>
                <a:spcPts val="3600"/>
              </a:lnSpc>
            </a:pPr>
            <a:r>
              <a:rPr lang="en-US" sz="3000" b="true">
                <a:solidFill>
                  <a:srgbClr val="6940A4"/>
                </a:solidFill>
                <a:latin typeface="Calibri (MS) Bold"/>
                <a:ea typeface="Calibri (MS) Bold"/>
                <a:cs typeface="Calibri (MS) Bold"/>
                <a:sym typeface="Calibri (MS) Bold"/>
              </a:rPr>
              <a:t>Pregnancy Knowledge Base</a:t>
            </a:r>
          </a:p>
        </p:txBody>
      </p:sp>
      <p:sp>
        <p:nvSpPr>
          <p:cNvPr name="TextBox 17" id="17"/>
          <p:cNvSpPr txBox="true"/>
          <p:nvPr/>
        </p:nvSpPr>
        <p:spPr>
          <a:xfrm rot="0">
            <a:off x="9700146" y="3790874"/>
            <a:ext cx="7298179" cy="2924175"/>
          </a:xfrm>
          <a:prstGeom prst="rect">
            <a:avLst/>
          </a:prstGeom>
        </p:spPr>
        <p:txBody>
          <a:bodyPr anchor="t" rtlCol="false" tIns="0" lIns="0" bIns="0" rIns="0">
            <a:spAutoFit/>
          </a:bodyPr>
          <a:lstStyle/>
          <a:p>
            <a:pPr algn="l">
              <a:lnSpc>
                <a:spcPts val="3240"/>
              </a:lnSpc>
            </a:pPr>
            <a:r>
              <a:rPr lang="en-US" sz="2700">
                <a:solidFill>
                  <a:srgbClr val="000000"/>
                </a:solidFill>
                <a:latin typeface="Calibri (MS)"/>
                <a:ea typeface="Calibri (MS)"/>
                <a:cs typeface="Calibri (MS)"/>
                <a:sym typeface="Calibri (MS)"/>
              </a:rPr>
              <a:t>Trusted WHO and UNICEF maternal-health resources were extracted, cleaned and split into 3,596 text chunks.</a:t>
            </a:r>
          </a:p>
          <a:p>
            <a:pPr algn="l">
              <a:lnSpc>
                <a:spcPts val="3240"/>
              </a:lnSpc>
            </a:pPr>
          </a:p>
          <a:p>
            <a:pPr algn="l">
              <a:lnSpc>
                <a:spcPts val="3240"/>
              </a:lnSpc>
            </a:pPr>
            <a:r>
              <a:rPr lang="en-US" sz="2700">
                <a:solidFill>
                  <a:srgbClr val="000000"/>
                </a:solidFill>
                <a:latin typeface="Calibri (MS)"/>
                <a:ea typeface="Calibri (MS)"/>
                <a:cs typeface="Calibri (MS)"/>
                <a:sym typeface="Calibri (MS)"/>
              </a:rPr>
              <a:t>Each chunk was converted into a 384-dimensional embedding and stored in ChromaDB for semantic retrieval.</a:t>
            </a:r>
          </a:p>
        </p:txBody>
      </p:sp>
      <p:sp>
        <p:nvSpPr>
          <p:cNvPr name="TextBox 18" id="18"/>
          <p:cNvSpPr txBox="true"/>
          <p:nvPr/>
        </p:nvSpPr>
        <p:spPr>
          <a:xfrm rot="0">
            <a:off x="16151704" y="9735664"/>
            <a:ext cx="915257" cy="280302"/>
          </a:xfrm>
          <a:prstGeom prst="rect">
            <a:avLst/>
          </a:prstGeom>
        </p:spPr>
        <p:txBody>
          <a:bodyPr anchor="t" rtlCol="false" tIns="0" lIns="0" bIns="0" rIns="0">
            <a:spAutoFit/>
          </a:bodyPr>
          <a:lstStyle/>
          <a:p>
            <a:pPr algn="r">
              <a:lnSpc>
                <a:spcPts val="1621"/>
              </a:lnSpc>
            </a:pPr>
            <a:r>
              <a:rPr lang="en-US" sz="1351">
                <a:solidFill>
                  <a:srgbClr val="6E6574"/>
                </a:solidFill>
                <a:latin typeface="Calibri (MS)"/>
                <a:ea typeface="Calibri (MS)"/>
                <a:cs typeface="Calibri (MS)"/>
                <a:sym typeface="Calibri (MS)"/>
              </a:rPr>
              <a:t>4</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4" id="4"/>
          <p:cNvGrpSpPr/>
          <p:nvPr/>
        </p:nvGrpSpPr>
        <p:grpSpPr>
          <a:xfrm rot="0">
            <a:off x="0" y="0"/>
            <a:ext cx="18301840" cy="164725"/>
            <a:chOff x="0" y="0"/>
            <a:chExt cx="24402453" cy="219634"/>
          </a:xfrm>
        </p:grpSpPr>
        <p:sp>
          <p:nvSpPr>
            <p:cNvPr name="Freeform 5" id="5"/>
            <p:cNvSpPr/>
            <p:nvPr/>
          </p:nvSpPr>
          <p:spPr>
            <a:xfrm flipH="false" flipV="false" rot="0">
              <a:off x="0" y="0"/>
              <a:ext cx="24402414" cy="219583"/>
            </a:xfrm>
            <a:custGeom>
              <a:avLst/>
              <a:gdLst/>
              <a:ahLst/>
              <a:cxnLst/>
              <a:rect r="r" b="b" t="t" l="l"/>
              <a:pathLst>
                <a:path h="219583" w="24402414">
                  <a:moveTo>
                    <a:pt x="0" y="0"/>
                  </a:moveTo>
                  <a:lnTo>
                    <a:pt x="24402414" y="0"/>
                  </a:lnTo>
                  <a:lnTo>
                    <a:pt x="24402414" y="219583"/>
                  </a:lnTo>
                  <a:lnTo>
                    <a:pt x="0" y="219583"/>
                  </a:lnTo>
                  <a:close/>
                </a:path>
              </a:pathLst>
            </a:custGeom>
            <a:solidFill>
              <a:srgbClr val="D33078"/>
            </a:solidFill>
          </p:spPr>
        </p:sp>
      </p:grpSp>
      <p:sp>
        <p:nvSpPr>
          <p:cNvPr name="TextBox 6" id="6"/>
          <p:cNvSpPr txBox="true"/>
          <p:nvPr/>
        </p:nvSpPr>
        <p:spPr>
          <a:xfrm rot="0">
            <a:off x="983675" y="326965"/>
            <a:ext cx="16289188" cy="896045"/>
          </a:xfrm>
          <a:prstGeom prst="rect">
            <a:avLst/>
          </a:prstGeom>
        </p:spPr>
        <p:txBody>
          <a:bodyPr anchor="t" rtlCol="false" tIns="0" lIns="0" bIns="0" rIns="0">
            <a:spAutoFit/>
          </a:bodyPr>
          <a:lstStyle/>
          <a:p>
            <a:pPr algn="l">
              <a:lnSpc>
                <a:spcPts val="5224"/>
              </a:lnSpc>
            </a:pPr>
            <a:r>
              <a:rPr lang="en-US" sz="4353" b="true">
                <a:solidFill>
                  <a:srgbClr val="301948"/>
                </a:solidFill>
                <a:latin typeface="Calibri (MS) Bold"/>
                <a:ea typeface="Calibri (MS) Bold"/>
                <a:cs typeface="Calibri (MS) Bold"/>
                <a:sym typeface="Calibri (MS) Bold"/>
              </a:rPr>
              <a:t>Model Evaluation</a:t>
            </a:r>
          </a:p>
        </p:txBody>
      </p:sp>
      <p:sp>
        <p:nvSpPr>
          <p:cNvPr name="TextBox 7" id="7"/>
          <p:cNvSpPr txBox="true"/>
          <p:nvPr/>
        </p:nvSpPr>
        <p:spPr>
          <a:xfrm rot="0">
            <a:off x="1024861" y="1089660"/>
            <a:ext cx="16014659" cy="523875"/>
          </a:xfrm>
          <a:prstGeom prst="rect">
            <a:avLst/>
          </a:prstGeom>
        </p:spPr>
        <p:txBody>
          <a:bodyPr anchor="t" rtlCol="false" tIns="0" lIns="0" bIns="0" rIns="0">
            <a:spAutoFit/>
          </a:bodyPr>
          <a:lstStyle/>
          <a:p>
            <a:pPr algn="l">
              <a:lnSpc>
                <a:spcPts val="3600"/>
              </a:lnSpc>
            </a:pPr>
            <a:r>
              <a:rPr lang="en-US" sz="3000">
                <a:solidFill>
                  <a:srgbClr val="000000"/>
                </a:solidFill>
                <a:latin typeface="Calibri (MS)"/>
                <a:ea typeface="Calibri (MS)"/>
                <a:cs typeface="Calibri (MS)"/>
                <a:sym typeface="Calibri (MS)"/>
              </a:rPr>
              <a:t>Random Forest delivered the strongest overall performance</a:t>
            </a:r>
          </a:p>
        </p:txBody>
      </p:sp>
      <p:graphicFrame>
        <p:nvGraphicFramePr>
          <p:cNvPr name="Table 8" id="8"/>
          <p:cNvGraphicFramePr>
            <a:graphicFrameLocks noGrp="true"/>
          </p:cNvGraphicFramePr>
          <p:nvPr/>
        </p:nvGraphicFramePr>
        <p:xfrm>
          <a:off x="1000125" y="1794510"/>
          <a:ext cx="15328175" cy="4861548"/>
        </p:xfrm>
        <a:graphic>
          <a:graphicData uri="http://schemas.openxmlformats.org/drawingml/2006/table">
            <a:tbl>
              <a:tblPr/>
              <a:tblGrid>
                <a:gridCol w="5200631"/>
                <a:gridCol w="2463457"/>
                <a:gridCol w="2463457"/>
                <a:gridCol w="2463457"/>
                <a:gridCol w="2737174"/>
              </a:tblGrid>
              <a:tr h="972310">
                <a:tc>
                  <a:txBody>
                    <a:bodyPr anchor="t" rtlCol="false"/>
                    <a:lstStyle/>
                    <a:p>
                      <a:pPr algn="l">
                        <a:lnSpc>
                          <a:spcPts val="2999"/>
                        </a:lnSpc>
                        <a:defRPr/>
                      </a:pPr>
                      <a:r>
                        <a:rPr lang="en-US" sz="2499" b="true">
                          <a:solidFill>
                            <a:srgbClr val="FFFFFF"/>
                          </a:solidFill>
                          <a:latin typeface="Calibri (MS) Bold"/>
                          <a:ea typeface="Calibri (MS) Bold"/>
                          <a:cs typeface="Calibri (MS) Bold"/>
                          <a:sym typeface="Calibri (MS) Bold"/>
                        </a:rPr>
                        <a:t>Model</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301948"/>
                    </a:solidFill>
                  </a:tcPr>
                </a:tc>
                <a:tc>
                  <a:txBody>
                    <a:bodyPr anchor="t" rtlCol="false"/>
                    <a:lstStyle/>
                    <a:p>
                      <a:pPr algn="l">
                        <a:lnSpc>
                          <a:spcPts val="2999"/>
                        </a:lnSpc>
                        <a:defRPr/>
                      </a:pPr>
                      <a:r>
                        <a:rPr lang="en-US" sz="2499" b="true">
                          <a:solidFill>
                            <a:srgbClr val="FFFFFF"/>
                          </a:solidFill>
                          <a:latin typeface="Calibri (MS) Bold"/>
                          <a:ea typeface="Calibri (MS) Bold"/>
                          <a:cs typeface="Calibri (MS) Bold"/>
                          <a:sym typeface="Calibri (MS) Bold"/>
                        </a:rPr>
                        <a:t>Accuracy</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301948"/>
                    </a:solidFill>
                  </a:tcPr>
                </a:tc>
                <a:tc>
                  <a:txBody>
                    <a:bodyPr anchor="t" rtlCol="false"/>
                    <a:lstStyle/>
                    <a:p>
                      <a:pPr algn="l">
                        <a:lnSpc>
                          <a:spcPts val="2999"/>
                        </a:lnSpc>
                        <a:defRPr/>
                      </a:pPr>
                      <a:r>
                        <a:rPr lang="en-US" sz="2499" b="true">
                          <a:solidFill>
                            <a:srgbClr val="FFFFFF"/>
                          </a:solidFill>
                          <a:latin typeface="Calibri (MS) Bold"/>
                          <a:ea typeface="Calibri (MS) Bold"/>
                          <a:cs typeface="Calibri (MS) Bold"/>
                          <a:sym typeface="Calibri (MS) Bold"/>
                        </a:rPr>
                        <a:t>Precision</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301948"/>
                    </a:solidFill>
                  </a:tcPr>
                </a:tc>
                <a:tc>
                  <a:txBody>
                    <a:bodyPr anchor="t" rtlCol="false"/>
                    <a:lstStyle/>
                    <a:p>
                      <a:pPr algn="l">
                        <a:lnSpc>
                          <a:spcPts val="2999"/>
                        </a:lnSpc>
                        <a:defRPr/>
                      </a:pPr>
                      <a:r>
                        <a:rPr lang="en-US" sz="2499" b="true">
                          <a:solidFill>
                            <a:srgbClr val="FFFFFF"/>
                          </a:solidFill>
                          <a:latin typeface="Calibri (MS) Bold"/>
                          <a:ea typeface="Calibri (MS) Bold"/>
                          <a:cs typeface="Calibri (MS) Bold"/>
                          <a:sym typeface="Calibri (MS) Bold"/>
                        </a:rPr>
                        <a:t>Recall</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301948"/>
                    </a:solidFill>
                  </a:tcPr>
                </a:tc>
                <a:tc>
                  <a:txBody>
                    <a:bodyPr anchor="t" rtlCol="false"/>
                    <a:lstStyle/>
                    <a:p>
                      <a:pPr algn="l">
                        <a:lnSpc>
                          <a:spcPts val="2999"/>
                        </a:lnSpc>
                        <a:defRPr/>
                      </a:pPr>
                      <a:r>
                        <a:rPr lang="en-US" sz="2499" b="true">
                          <a:solidFill>
                            <a:srgbClr val="FFFFFF"/>
                          </a:solidFill>
                          <a:latin typeface="Calibri (MS) Bold"/>
                          <a:ea typeface="Calibri (MS) Bold"/>
                          <a:cs typeface="Calibri (MS) Bold"/>
                          <a:sym typeface="Calibri (MS) Bold"/>
                        </a:rPr>
                        <a:t>F1-Score</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301948"/>
                    </a:solidFill>
                  </a:tcPr>
                </a:tc>
              </a:tr>
              <a:tr h="972310">
                <a:tc>
                  <a:txBody>
                    <a:bodyPr anchor="t" rtlCol="false"/>
                    <a:lstStyle/>
                    <a:p>
                      <a:pPr algn="l">
                        <a:lnSpc>
                          <a:spcPts val="2999"/>
                        </a:lnSpc>
                        <a:defRPr/>
                      </a:pPr>
                      <a:r>
                        <a:rPr lang="en-US" b="true" sz="2499">
                          <a:solidFill>
                            <a:srgbClr val="000000"/>
                          </a:solidFill>
                          <a:latin typeface="Calibri (MS) Bold"/>
                          <a:ea typeface="Calibri (MS) Bold"/>
                          <a:cs typeface="Calibri (MS) Bold"/>
                          <a:sym typeface="Calibri (MS) Bold"/>
                        </a:rPr>
                        <a:t>Random Forest</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F8"/>
                    </a:solidFill>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94.07%</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F8"/>
                    </a:solidFill>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94.32%</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F8"/>
                    </a:solidFill>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94.07%</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F8"/>
                    </a:solidFill>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94.03%</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F8"/>
                    </a:solidFill>
                  </a:tcPr>
                </a:tc>
              </a:tr>
              <a:tr h="972310">
                <a:tc>
                  <a:txBody>
                    <a:bodyPr anchor="t" rtlCol="false"/>
                    <a:lstStyle/>
                    <a:p>
                      <a:pPr algn="l">
                        <a:lnSpc>
                          <a:spcPts val="2999"/>
                        </a:lnSpc>
                        <a:defRPr/>
                      </a:pPr>
                      <a:r>
                        <a:rPr lang="en-US" b="true" sz="2499">
                          <a:solidFill>
                            <a:srgbClr val="000000"/>
                          </a:solidFill>
                          <a:latin typeface="Calibri (MS) Bold"/>
                          <a:ea typeface="Calibri (MS) Bold"/>
                          <a:cs typeface="Calibri (MS) Bold"/>
                          <a:sym typeface="Calibri (MS) Bold"/>
                        </a:rPr>
                        <a:t>Tuned Random Forest</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94.03%</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94.31%</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94.03%</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94.00%</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972310">
                <a:tc>
                  <a:txBody>
                    <a:bodyPr anchor="t" rtlCol="false"/>
                    <a:lstStyle/>
                    <a:p>
                      <a:pPr algn="l">
                        <a:lnSpc>
                          <a:spcPts val="2999"/>
                        </a:lnSpc>
                        <a:defRPr/>
                      </a:pPr>
                      <a:r>
                        <a:rPr lang="en-US" b="true" sz="2499">
                          <a:solidFill>
                            <a:srgbClr val="000000"/>
                          </a:solidFill>
                          <a:latin typeface="Calibri (MS) Bold"/>
                          <a:ea typeface="Calibri (MS) Bold"/>
                          <a:cs typeface="Calibri (MS) Bold"/>
                          <a:sym typeface="Calibri (MS) Bold"/>
                        </a:rPr>
                        <a:t>Decision Tree</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89.62%</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89.65%</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89.62%</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89.63%</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972310">
                <a:tc>
                  <a:txBody>
                    <a:bodyPr anchor="t" rtlCol="false"/>
                    <a:lstStyle/>
                    <a:p>
                      <a:pPr algn="l">
                        <a:lnSpc>
                          <a:spcPts val="2999"/>
                        </a:lnSpc>
                        <a:defRPr/>
                      </a:pPr>
                      <a:r>
                        <a:rPr lang="en-US" b="true" sz="2499">
                          <a:solidFill>
                            <a:srgbClr val="000000"/>
                          </a:solidFill>
                          <a:latin typeface="Calibri (MS) Bold"/>
                          <a:ea typeface="Calibri (MS) Bold"/>
                          <a:cs typeface="Calibri (MS) Bold"/>
                          <a:sym typeface="Calibri (MS) Bold"/>
                        </a:rPr>
                        <a:t>Logistic Regression</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78.07%</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78.65%</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78.07%</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999"/>
                        </a:lnSpc>
                        <a:defRPr/>
                      </a:pPr>
                      <a:r>
                        <a:rPr lang="en-US" sz="2499">
                          <a:solidFill>
                            <a:srgbClr val="000000"/>
                          </a:solidFill>
                          <a:latin typeface="Calibri (MS)"/>
                          <a:ea typeface="Calibri (MS)"/>
                          <a:cs typeface="Calibri (MS)"/>
                          <a:sym typeface="Calibri (MS)"/>
                        </a:rPr>
                        <a:t>78.11%</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bl>
          </a:graphicData>
        </a:graphic>
      </p:graphicFrame>
      <p:sp>
        <p:nvSpPr>
          <p:cNvPr name="TextBox 9" id="9"/>
          <p:cNvSpPr txBox="true"/>
          <p:nvPr/>
        </p:nvSpPr>
        <p:spPr>
          <a:xfrm rot="0">
            <a:off x="16151704" y="9735664"/>
            <a:ext cx="915257" cy="280302"/>
          </a:xfrm>
          <a:prstGeom prst="rect">
            <a:avLst/>
          </a:prstGeom>
        </p:spPr>
        <p:txBody>
          <a:bodyPr anchor="t" rtlCol="false" tIns="0" lIns="0" bIns="0" rIns="0">
            <a:spAutoFit/>
          </a:bodyPr>
          <a:lstStyle/>
          <a:p>
            <a:pPr algn="r">
              <a:lnSpc>
                <a:spcPts val="1621"/>
              </a:lnSpc>
            </a:pPr>
            <a:r>
              <a:rPr lang="en-US" sz="1351">
                <a:solidFill>
                  <a:srgbClr val="6E6574"/>
                </a:solidFill>
                <a:latin typeface="Calibri (MS)"/>
                <a:ea typeface="Calibri (MS)"/>
                <a:cs typeface="Calibri (MS)"/>
                <a:sym typeface="Calibri (MS)"/>
              </a:rPr>
              <a:t>6</a:t>
            </a:r>
          </a:p>
        </p:txBody>
      </p:sp>
      <p:grpSp>
        <p:nvGrpSpPr>
          <p:cNvPr name="Group 10" id="10"/>
          <p:cNvGrpSpPr/>
          <p:nvPr/>
        </p:nvGrpSpPr>
        <p:grpSpPr>
          <a:xfrm rot="0">
            <a:off x="1434160" y="6928342"/>
            <a:ext cx="24867870" cy="1318336"/>
            <a:chOff x="0" y="0"/>
            <a:chExt cx="33157160" cy="1757782"/>
          </a:xfrm>
        </p:grpSpPr>
        <p:grpSp>
          <p:nvGrpSpPr>
            <p:cNvPr name="Group 11" id="11"/>
            <p:cNvGrpSpPr/>
            <p:nvPr/>
          </p:nvGrpSpPr>
          <p:grpSpPr>
            <a:xfrm rot="0">
              <a:off x="0" y="0"/>
              <a:ext cx="9810801" cy="1757782"/>
              <a:chOff x="0" y="0"/>
              <a:chExt cx="9810801" cy="1757782"/>
            </a:xfrm>
          </p:grpSpPr>
          <p:sp>
            <p:nvSpPr>
              <p:cNvPr name="Freeform 12" id="12"/>
              <p:cNvSpPr/>
              <p:nvPr/>
            </p:nvSpPr>
            <p:spPr>
              <a:xfrm flipH="false" flipV="false" rot="0">
                <a:off x="0" y="0"/>
                <a:ext cx="9810877" cy="1757807"/>
              </a:xfrm>
              <a:custGeom>
                <a:avLst/>
                <a:gdLst/>
                <a:ahLst/>
                <a:cxnLst/>
                <a:rect r="r" b="b" t="t" l="l"/>
                <a:pathLst>
                  <a:path h="1757807" w="9810877">
                    <a:moveTo>
                      <a:pt x="0" y="292989"/>
                    </a:moveTo>
                    <a:cubicBezTo>
                      <a:pt x="0" y="131191"/>
                      <a:pt x="131191" y="0"/>
                      <a:pt x="292989" y="0"/>
                    </a:cubicBezTo>
                    <a:lnTo>
                      <a:pt x="9517888" y="0"/>
                    </a:lnTo>
                    <a:cubicBezTo>
                      <a:pt x="9679686" y="0"/>
                      <a:pt x="9810877" y="131191"/>
                      <a:pt x="9810877" y="292989"/>
                    </a:cubicBezTo>
                    <a:lnTo>
                      <a:pt x="9810877" y="1464818"/>
                    </a:lnTo>
                    <a:cubicBezTo>
                      <a:pt x="9810877" y="1626616"/>
                      <a:pt x="9679686" y="1757807"/>
                      <a:pt x="9517888" y="1757807"/>
                    </a:cubicBezTo>
                    <a:lnTo>
                      <a:pt x="292989" y="1757807"/>
                    </a:lnTo>
                    <a:cubicBezTo>
                      <a:pt x="131191" y="1757807"/>
                      <a:pt x="0" y="1626616"/>
                      <a:pt x="0" y="1464818"/>
                    </a:cubicBezTo>
                    <a:close/>
                  </a:path>
                </a:pathLst>
              </a:custGeom>
              <a:solidFill>
                <a:srgbClr val="FFFFFF"/>
              </a:solidFill>
              <a:ln w="14299" cap="sq">
                <a:solidFill>
                  <a:srgbClr val="E6DCED"/>
                </a:solidFill>
                <a:prstDash val="solid"/>
                <a:miter/>
              </a:ln>
            </p:spPr>
          </p:sp>
        </p:grpSp>
        <p:sp>
          <p:nvSpPr>
            <p:cNvPr name="TextBox 13" id="13"/>
            <p:cNvSpPr txBox="true"/>
            <p:nvPr/>
          </p:nvSpPr>
          <p:spPr>
            <a:xfrm rot="0">
              <a:off x="497497" y="278346"/>
              <a:ext cx="762787" cy="676847"/>
            </a:xfrm>
            <a:prstGeom prst="rect">
              <a:avLst/>
            </a:prstGeom>
          </p:spPr>
          <p:txBody>
            <a:bodyPr anchor="t" rtlCol="false" tIns="0" lIns="0" bIns="0" rIns="0">
              <a:spAutoFit/>
            </a:bodyPr>
            <a:lstStyle/>
            <a:p>
              <a:pPr algn="l">
                <a:lnSpc>
                  <a:spcPts val="3782"/>
                </a:lnSpc>
              </a:pPr>
              <a:r>
                <a:rPr lang="en-US" sz="3152">
                  <a:solidFill>
                    <a:srgbClr val="000000"/>
                  </a:solidFill>
                  <a:latin typeface="Calibri (MS)"/>
                  <a:ea typeface="Calibri (MS)"/>
                  <a:cs typeface="Calibri (MS)"/>
                  <a:sym typeface="Calibri (MS)"/>
                </a:rPr>
                <a:t>🏆</a:t>
              </a:r>
            </a:p>
          </p:txBody>
        </p:sp>
        <p:sp>
          <p:nvSpPr>
            <p:cNvPr name="TextBox 14" id="14"/>
            <p:cNvSpPr txBox="true"/>
            <p:nvPr/>
          </p:nvSpPr>
          <p:spPr>
            <a:xfrm rot="0">
              <a:off x="1512303" y="319964"/>
              <a:ext cx="8815794" cy="676275"/>
            </a:xfrm>
            <a:prstGeom prst="rect">
              <a:avLst/>
            </a:prstGeom>
          </p:spPr>
          <p:txBody>
            <a:bodyPr anchor="t" rtlCol="false" tIns="0" lIns="0" bIns="0" rIns="0">
              <a:spAutoFit/>
            </a:bodyPr>
            <a:lstStyle/>
            <a:p>
              <a:pPr algn="l">
                <a:lnSpc>
                  <a:spcPts val="3600"/>
                </a:lnSpc>
              </a:pPr>
              <a:r>
                <a:rPr lang="en-US" sz="3000" b="true">
                  <a:solidFill>
                    <a:srgbClr val="D33078"/>
                  </a:solidFill>
                  <a:latin typeface="Calibri (MS) Bold"/>
                  <a:ea typeface="Calibri (MS) Bold"/>
                  <a:cs typeface="Calibri (MS) Bold"/>
                  <a:sym typeface="Calibri (MS) Bold"/>
                </a:rPr>
                <a:t>Final model</a:t>
              </a:r>
            </a:p>
          </p:txBody>
        </p:sp>
        <p:grpSp>
          <p:nvGrpSpPr>
            <p:cNvPr name="Group 15" id="15"/>
            <p:cNvGrpSpPr/>
            <p:nvPr/>
          </p:nvGrpSpPr>
          <p:grpSpPr>
            <a:xfrm rot="0">
              <a:off x="10340797" y="0"/>
              <a:ext cx="9810801" cy="1757782"/>
              <a:chOff x="0" y="0"/>
              <a:chExt cx="9810801" cy="1757782"/>
            </a:xfrm>
          </p:grpSpPr>
          <p:sp>
            <p:nvSpPr>
              <p:cNvPr name="Freeform 16" id="16"/>
              <p:cNvSpPr/>
              <p:nvPr/>
            </p:nvSpPr>
            <p:spPr>
              <a:xfrm flipH="false" flipV="false" rot="0">
                <a:off x="0" y="0"/>
                <a:ext cx="9810877" cy="1757807"/>
              </a:xfrm>
              <a:custGeom>
                <a:avLst/>
                <a:gdLst/>
                <a:ahLst/>
                <a:cxnLst/>
                <a:rect r="r" b="b" t="t" l="l"/>
                <a:pathLst>
                  <a:path h="1757807" w="9810877">
                    <a:moveTo>
                      <a:pt x="0" y="292989"/>
                    </a:moveTo>
                    <a:cubicBezTo>
                      <a:pt x="0" y="131191"/>
                      <a:pt x="131191" y="0"/>
                      <a:pt x="292989" y="0"/>
                    </a:cubicBezTo>
                    <a:lnTo>
                      <a:pt x="9517888" y="0"/>
                    </a:lnTo>
                    <a:cubicBezTo>
                      <a:pt x="9679686" y="0"/>
                      <a:pt x="9810877" y="131191"/>
                      <a:pt x="9810877" y="292989"/>
                    </a:cubicBezTo>
                    <a:lnTo>
                      <a:pt x="9810877" y="1464818"/>
                    </a:lnTo>
                    <a:cubicBezTo>
                      <a:pt x="9810877" y="1626616"/>
                      <a:pt x="9679686" y="1757807"/>
                      <a:pt x="9517888" y="1757807"/>
                    </a:cubicBezTo>
                    <a:lnTo>
                      <a:pt x="292989" y="1757807"/>
                    </a:lnTo>
                    <a:cubicBezTo>
                      <a:pt x="131191" y="1757807"/>
                      <a:pt x="0" y="1626616"/>
                      <a:pt x="0" y="1464818"/>
                    </a:cubicBezTo>
                    <a:close/>
                  </a:path>
                </a:pathLst>
              </a:custGeom>
              <a:solidFill>
                <a:srgbClr val="FFFFFF"/>
              </a:solidFill>
              <a:ln w="14299" cap="sq">
                <a:solidFill>
                  <a:srgbClr val="E6DCED"/>
                </a:solidFill>
                <a:prstDash val="solid"/>
                <a:miter/>
              </a:ln>
            </p:spPr>
          </p:sp>
        </p:grpSp>
        <p:sp>
          <p:nvSpPr>
            <p:cNvPr name="TextBox 17" id="17"/>
            <p:cNvSpPr txBox="true"/>
            <p:nvPr/>
          </p:nvSpPr>
          <p:spPr>
            <a:xfrm rot="0">
              <a:off x="10838294" y="278346"/>
              <a:ext cx="762787" cy="676847"/>
            </a:xfrm>
            <a:prstGeom prst="rect">
              <a:avLst/>
            </a:prstGeom>
          </p:spPr>
          <p:txBody>
            <a:bodyPr anchor="t" rtlCol="false" tIns="0" lIns="0" bIns="0" rIns="0">
              <a:spAutoFit/>
            </a:bodyPr>
            <a:lstStyle/>
            <a:p>
              <a:pPr algn="l">
                <a:lnSpc>
                  <a:spcPts val="3782"/>
                </a:lnSpc>
              </a:pPr>
              <a:r>
                <a:rPr lang="en-US" sz="3152">
                  <a:solidFill>
                    <a:srgbClr val="000000"/>
                  </a:solidFill>
                  <a:latin typeface="Calibri (MS)"/>
                  <a:ea typeface="Calibri (MS)"/>
                  <a:cs typeface="Calibri (MS)"/>
                  <a:sym typeface="Calibri (MS)"/>
                </a:rPr>
                <a:t>🎯</a:t>
              </a:r>
            </a:p>
          </p:txBody>
        </p:sp>
        <p:sp>
          <p:nvSpPr>
            <p:cNvPr name="TextBox 18" id="18"/>
            <p:cNvSpPr txBox="true"/>
            <p:nvPr/>
          </p:nvSpPr>
          <p:spPr>
            <a:xfrm rot="0">
              <a:off x="11804282" y="294564"/>
              <a:ext cx="8815794" cy="676275"/>
            </a:xfrm>
            <a:prstGeom prst="rect">
              <a:avLst/>
            </a:prstGeom>
          </p:spPr>
          <p:txBody>
            <a:bodyPr anchor="t" rtlCol="false" tIns="0" lIns="0" bIns="0" rIns="0">
              <a:spAutoFit/>
            </a:bodyPr>
            <a:lstStyle/>
            <a:p>
              <a:pPr algn="l">
                <a:lnSpc>
                  <a:spcPts val="3600"/>
                </a:lnSpc>
              </a:pPr>
              <a:r>
                <a:rPr lang="en-US" sz="3000" b="true">
                  <a:solidFill>
                    <a:srgbClr val="6940A4"/>
                  </a:solidFill>
                  <a:latin typeface="Calibri (MS) Bold"/>
                  <a:ea typeface="Calibri (MS) Bold"/>
                  <a:cs typeface="Calibri (MS) Bold"/>
                  <a:sym typeface="Calibri (MS) Bold"/>
                </a:rPr>
                <a:t>High-risk recall</a:t>
              </a:r>
            </a:p>
          </p:txBody>
        </p:sp>
        <p:sp>
          <p:nvSpPr>
            <p:cNvPr name="TextBox 19" id="19"/>
            <p:cNvSpPr txBox="true"/>
            <p:nvPr/>
          </p:nvSpPr>
          <p:spPr>
            <a:xfrm rot="0">
              <a:off x="1512303" y="1037514"/>
              <a:ext cx="21352878" cy="542925"/>
            </a:xfrm>
            <a:prstGeom prst="rect">
              <a:avLst/>
            </a:prstGeom>
          </p:spPr>
          <p:txBody>
            <a:bodyPr anchor="t" rtlCol="false" tIns="0" lIns="0" bIns="0" rIns="0">
              <a:spAutoFit/>
            </a:bodyPr>
            <a:lstStyle/>
            <a:p>
              <a:pPr algn="l">
                <a:lnSpc>
                  <a:spcPts val="2999"/>
                </a:lnSpc>
              </a:pPr>
              <a:r>
                <a:rPr lang="en-US" sz="2499">
                  <a:solidFill>
                    <a:srgbClr val="000000"/>
                  </a:solidFill>
                  <a:latin typeface="Calibri (MS)"/>
                  <a:ea typeface="Calibri (MS)"/>
                  <a:cs typeface="Calibri (MS)"/>
                  <a:sym typeface="Calibri (MS)"/>
                </a:rPr>
                <a:t>Random Forest </a:t>
              </a:r>
            </a:p>
          </p:txBody>
        </p:sp>
        <p:sp>
          <p:nvSpPr>
            <p:cNvPr name="TextBox 20" id="20"/>
            <p:cNvSpPr txBox="true"/>
            <p:nvPr/>
          </p:nvSpPr>
          <p:spPr>
            <a:xfrm rot="0">
              <a:off x="11804282" y="1075157"/>
              <a:ext cx="21352878" cy="542925"/>
            </a:xfrm>
            <a:prstGeom prst="rect">
              <a:avLst/>
            </a:prstGeom>
          </p:spPr>
          <p:txBody>
            <a:bodyPr anchor="t" rtlCol="false" tIns="0" lIns="0" bIns="0" rIns="0">
              <a:spAutoFit/>
            </a:bodyPr>
            <a:lstStyle/>
            <a:p>
              <a:pPr algn="l">
                <a:lnSpc>
                  <a:spcPts val="2999"/>
                </a:lnSpc>
              </a:pPr>
              <a:r>
                <a:rPr lang="en-US" sz="2499">
                  <a:solidFill>
                    <a:srgbClr val="000000"/>
                  </a:solidFill>
                  <a:latin typeface="Calibri (MS)"/>
                  <a:ea typeface="Calibri (MS)"/>
                  <a:cs typeface="Calibri (MS)"/>
                  <a:sym typeface="Calibri (MS)"/>
                </a:rPr>
                <a:t>85.70% - key class specific metric</a:t>
              </a:r>
            </a:p>
          </p:txBody>
        </p:sp>
      </p:grpSp>
      <p:grpSp>
        <p:nvGrpSpPr>
          <p:cNvPr name="Group 21" id="21"/>
          <p:cNvGrpSpPr/>
          <p:nvPr/>
        </p:nvGrpSpPr>
        <p:grpSpPr>
          <a:xfrm rot="0">
            <a:off x="1672552" y="8484803"/>
            <a:ext cx="17064647" cy="1718443"/>
            <a:chOff x="0" y="0"/>
            <a:chExt cx="22752863" cy="2291258"/>
          </a:xfrm>
        </p:grpSpPr>
        <p:grpSp>
          <p:nvGrpSpPr>
            <p:cNvPr name="Group 22" id="22"/>
            <p:cNvGrpSpPr/>
            <p:nvPr/>
          </p:nvGrpSpPr>
          <p:grpSpPr>
            <a:xfrm rot="0">
              <a:off x="0" y="0"/>
              <a:ext cx="19602526" cy="2291258"/>
              <a:chOff x="0" y="0"/>
              <a:chExt cx="19602526" cy="2291258"/>
            </a:xfrm>
          </p:grpSpPr>
          <p:sp>
            <p:nvSpPr>
              <p:cNvPr name="Freeform 23" id="23"/>
              <p:cNvSpPr/>
              <p:nvPr/>
            </p:nvSpPr>
            <p:spPr>
              <a:xfrm flipH="false" flipV="false" rot="0">
                <a:off x="0" y="0"/>
                <a:ext cx="19602450" cy="2291258"/>
              </a:xfrm>
              <a:custGeom>
                <a:avLst/>
                <a:gdLst/>
                <a:ahLst/>
                <a:cxnLst/>
                <a:rect r="r" b="b" t="t" l="l"/>
                <a:pathLst>
                  <a:path h="2291258" w="19602450">
                    <a:moveTo>
                      <a:pt x="0" y="381802"/>
                    </a:moveTo>
                    <a:cubicBezTo>
                      <a:pt x="0" y="170983"/>
                      <a:pt x="97028" y="0"/>
                      <a:pt x="216662" y="0"/>
                    </a:cubicBezTo>
                    <a:lnTo>
                      <a:pt x="19385787" y="0"/>
                    </a:lnTo>
                    <a:cubicBezTo>
                      <a:pt x="19505422" y="0"/>
                      <a:pt x="19602450" y="170983"/>
                      <a:pt x="19602450" y="381802"/>
                    </a:cubicBezTo>
                    <a:lnTo>
                      <a:pt x="19602450" y="1909456"/>
                    </a:lnTo>
                    <a:cubicBezTo>
                      <a:pt x="19602450" y="2120275"/>
                      <a:pt x="19505422" y="2291258"/>
                      <a:pt x="19385787" y="2291258"/>
                    </a:cubicBezTo>
                    <a:lnTo>
                      <a:pt x="216662" y="2291258"/>
                    </a:lnTo>
                    <a:cubicBezTo>
                      <a:pt x="97028" y="2291258"/>
                      <a:pt x="0" y="2120275"/>
                      <a:pt x="0" y="1909456"/>
                    </a:cubicBezTo>
                    <a:close/>
                  </a:path>
                </a:pathLst>
              </a:custGeom>
              <a:solidFill>
                <a:srgbClr val="FFFFFF"/>
              </a:solidFill>
              <a:ln w="14299" cap="sq">
                <a:solidFill>
                  <a:srgbClr val="E6DCED"/>
                </a:solidFill>
                <a:prstDash val="solid"/>
                <a:miter/>
              </a:ln>
            </p:spPr>
          </p:sp>
        </p:grpSp>
        <p:sp>
          <p:nvSpPr>
            <p:cNvPr name="TextBox 24" id="24"/>
            <p:cNvSpPr txBox="true"/>
            <p:nvPr/>
          </p:nvSpPr>
          <p:spPr>
            <a:xfrm rot="0">
              <a:off x="497497" y="278346"/>
              <a:ext cx="762787" cy="676847"/>
            </a:xfrm>
            <a:prstGeom prst="rect">
              <a:avLst/>
            </a:prstGeom>
          </p:spPr>
          <p:txBody>
            <a:bodyPr anchor="t" rtlCol="false" tIns="0" lIns="0" bIns="0" rIns="0">
              <a:spAutoFit/>
            </a:bodyPr>
            <a:lstStyle/>
            <a:p>
              <a:pPr algn="l">
                <a:lnSpc>
                  <a:spcPts val="3782"/>
                </a:lnSpc>
              </a:pPr>
              <a:r>
                <a:rPr lang="en-US" sz="3152">
                  <a:solidFill>
                    <a:srgbClr val="000000"/>
                  </a:solidFill>
                  <a:latin typeface="Calibri (MS)"/>
                  <a:ea typeface="Calibri (MS)"/>
                  <a:cs typeface="Calibri (MS)"/>
                  <a:sym typeface="Calibri (MS)"/>
                </a:rPr>
                <a:t>⚠️</a:t>
              </a:r>
            </a:p>
          </p:txBody>
        </p:sp>
        <p:sp>
          <p:nvSpPr>
            <p:cNvPr name="TextBox 25" id="25"/>
            <p:cNvSpPr txBox="true"/>
            <p:nvPr/>
          </p:nvSpPr>
          <p:spPr>
            <a:xfrm rot="0">
              <a:off x="1399984" y="231077"/>
              <a:ext cx="18607519" cy="676275"/>
            </a:xfrm>
            <a:prstGeom prst="rect">
              <a:avLst/>
            </a:prstGeom>
          </p:spPr>
          <p:txBody>
            <a:bodyPr anchor="t" rtlCol="false" tIns="0" lIns="0" bIns="0" rIns="0">
              <a:spAutoFit/>
            </a:bodyPr>
            <a:lstStyle/>
            <a:p>
              <a:pPr algn="l">
                <a:lnSpc>
                  <a:spcPts val="3600"/>
                </a:lnSpc>
              </a:pPr>
              <a:r>
                <a:rPr lang="en-US" sz="3000" b="true">
                  <a:solidFill>
                    <a:srgbClr val="D33078"/>
                  </a:solidFill>
                  <a:latin typeface="Calibri (MS) Bold"/>
                  <a:ea typeface="Calibri (MS) Bold"/>
                  <a:cs typeface="Calibri (MS) Bold"/>
                  <a:sym typeface="Calibri (MS) Bold"/>
                </a:rPr>
                <a:t>Why high-risk recall matters</a:t>
              </a:r>
            </a:p>
          </p:txBody>
        </p:sp>
        <p:sp>
          <p:nvSpPr>
            <p:cNvPr name="TextBox 26" id="26"/>
            <p:cNvSpPr txBox="true"/>
            <p:nvPr/>
          </p:nvSpPr>
          <p:spPr>
            <a:xfrm rot="0">
              <a:off x="1399985" y="960361"/>
              <a:ext cx="21352878" cy="676275"/>
            </a:xfrm>
            <a:prstGeom prst="rect">
              <a:avLst/>
            </a:prstGeom>
          </p:spPr>
          <p:txBody>
            <a:bodyPr anchor="t" rtlCol="false" tIns="0" lIns="0" bIns="0" rIns="0">
              <a:spAutoFit/>
            </a:bodyPr>
            <a:lstStyle/>
            <a:p>
              <a:pPr algn="l">
                <a:lnSpc>
                  <a:spcPts val="3600"/>
                </a:lnSpc>
              </a:pPr>
              <a:r>
                <a:rPr lang="en-US" sz="3000">
                  <a:solidFill>
                    <a:srgbClr val="000000"/>
                  </a:solidFill>
                  <a:latin typeface="Calibri (MS)"/>
                  <a:ea typeface="Calibri (MS)"/>
                  <a:cs typeface="Calibri (MS)"/>
                  <a:sym typeface="Calibri (MS)"/>
                </a:rPr>
                <a:t>The project prioritizes identifying pregnant women requiring further medical review.</a:t>
              </a:r>
            </a:p>
          </p:txBody>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FFF1F8"/>
        </a:solidFill>
      </p:bgPr>
    </p:bg>
    <p:spTree>
      <p:nvGrpSpPr>
        <p:cNvPr id="1" name=""/>
        <p:cNvGrpSpPr/>
        <p:nvPr/>
      </p:nvGrpSpPr>
      <p:grpSpPr>
        <a:xfrm>
          <a:off x="0" y="0"/>
          <a:ext cx="0" cy="0"/>
          <a:chOff x="0" y="0"/>
          <a:chExt cx="0" cy="0"/>
        </a:xfrm>
      </p:grpSpPr>
      <p:sp>
        <p:nvSpPr>
          <p:cNvPr name="TextBox 2" id="2"/>
          <p:cNvSpPr txBox="true"/>
          <p:nvPr/>
        </p:nvSpPr>
        <p:spPr>
          <a:xfrm rot="0">
            <a:off x="6983723" y="4317637"/>
            <a:ext cx="4320555" cy="1666875"/>
          </a:xfrm>
          <a:prstGeom prst="rect">
            <a:avLst/>
          </a:prstGeom>
        </p:spPr>
        <p:txBody>
          <a:bodyPr anchor="t" rtlCol="false" tIns="0" lIns="0" bIns="0" rIns="0">
            <a:spAutoFit/>
          </a:bodyPr>
          <a:lstStyle/>
          <a:p>
            <a:pPr algn="ctr">
              <a:lnSpc>
                <a:spcPts val="13271"/>
              </a:lnSpc>
              <a:spcBef>
                <a:spcPct val="0"/>
              </a:spcBef>
            </a:pPr>
            <a:r>
              <a:rPr lang="en-US" b="true" sz="11059">
                <a:solidFill>
                  <a:srgbClr val="D33078"/>
                </a:solidFill>
                <a:latin typeface="Canva Sans Bold"/>
                <a:ea typeface="Canva Sans Bold"/>
                <a:cs typeface="Canva Sans Bold"/>
                <a:sym typeface="Canva Sans Bold"/>
              </a:rPr>
              <a:t>DEMO</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4" id="4"/>
          <p:cNvGrpSpPr/>
          <p:nvPr/>
        </p:nvGrpSpPr>
        <p:grpSpPr>
          <a:xfrm rot="0">
            <a:off x="0" y="0"/>
            <a:ext cx="18301840" cy="164725"/>
            <a:chOff x="0" y="0"/>
            <a:chExt cx="24402453" cy="219634"/>
          </a:xfrm>
        </p:grpSpPr>
        <p:sp>
          <p:nvSpPr>
            <p:cNvPr name="Freeform 5" id="5"/>
            <p:cNvSpPr/>
            <p:nvPr/>
          </p:nvSpPr>
          <p:spPr>
            <a:xfrm flipH="false" flipV="false" rot="0">
              <a:off x="0" y="0"/>
              <a:ext cx="24402414" cy="219583"/>
            </a:xfrm>
            <a:custGeom>
              <a:avLst/>
              <a:gdLst/>
              <a:ahLst/>
              <a:cxnLst/>
              <a:rect r="r" b="b" t="t" l="l"/>
              <a:pathLst>
                <a:path h="219583" w="24402414">
                  <a:moveTo>
                    <a:pt x="0" y="0"/>
                  </a:moveTo>
                  <a:lnTo>
                    <a:pt x="24402414" y="0"/>
                  </a:lnTo>
                  <a:lnTo>
                    <a:pt x="24402414" y="219583"/>
                  </a:lnTo>
                  <a:lnTo>
                    <a:pt x="0" y="219583"/>
                  </a:lnTo>
                  <a:close/>
                </a:path>
              </a:pathLst>
            </a:custGeom>
            <a:solidFill>
              <a:srgbClr val="D33078"/>
            </a:solidFill>
          </p:spPr>
        </p:sp>
      </p:grpSp>
      <p:sp>
        <p:nvSpPr>
          <p:cNvPr name="TextBox 6" id="6"/>
          <p:cNvSpPr txBox="true"/>
          <p:nvPr/>
        </p:nvSpPr>
        <p:spPr>
          <a:xfrm rot="0">
            <a:off x="983675" y="526990"/>
            <a:ext cx="16289188" cy="896045"/>
          </a:xfrm>
          <a:prstGeom prst="rect">
            <a:avLst/>
          </a:prstGeom>
        </p:spPr>
        <p:txBody>
          <a:bodyPr anchor="t" rtlCol="false" tIns="0" lIns="0" bIns="0" rIns="0">
            <a:spAutoFit/>
          </a:bodyPr>
          <a:lstStyle/>
          <a:p>
            <a:pPr algn="l">
              <a:lnSpc>
                <a:spcPts val="5224"/>
              </a:lnSpc>
            </a:pPr>
            <a:r>
              <a:rPr lang="en-US" sz="4353" b="true">
                <a:solidFill>
                  <a:srgbClr val="301948"/>
                </a:solidFill>
                <a:latin typeface="Calibri (MS) Bold"/>
                <a:ea typeface="Calibri (MS) Bold"/>
                <a:cs typeface="Calibri (MS) Bold"/>
                <a:sym typeface="Calibri (MS) Bold"/>
              </a:rPr>
              <a:t>Limitations, Safety &amp; Responsible Use</a:t>
            </a:r>
          </a:p>
        </p:txBody>
      </p:sp>
      <p:grpSp>
        <p:nvGrpSpPr>
          <p:cNvPr name="Group 7" id="7"/>
          <p:cNvGrpSpPr/>
          <p:nvPr/>
        </p:nvGrpSpPr>
        <p:grpSpPr>
          <a:xfrm rot="0">
            <a:off x="953719" y="2120494"/>
            <a:ext cx="5299091" cy="6740395"/>
            <a:chOff x="0" y="0"/>
            <a:chExt cx="7065454" cy="8987193"/>
          </a:xfrm>
        </p:grpSpPr>
        <p:sp>
          <p:nvSpPr>
            <p:cNvPr name="Freeform 8" id="8"/>
            <p:cNvSpPr/>
            <p:nvPr/>
          </p:nvSpPr>
          <p:spPr>
            <a:xfrm flipH="false" flipV="false" rot="0">
              <a:off x="0" y="0"/>
              <a:ext cx="7065391" cy="8987028"/>
            </a:xfrm>
            <a:custGeom>
              <a:avLst/>
              <a:gdLst/>
              <a:ahLst/>
              <a:cxnLst/>
              <a:rect r="r" b="b" t="t" l="l"/>
              <a:pathLst>
                <a:path h="8987028" w="7065391">
                  <a:moveTo>
                    <a:pt x="0" y="1177544"/>
                  </a:moveTo>
                  <a:cubicBezTo>
                    <a:pt x="0" y="527177"/>
                    <a:pt x="527177" y="0"/>
                    <a:pt x="1177544" y="0"/>
                  </a:cubicBezTo>
                  <a:lnTo>
                    <a:pt x="5887847" y="0"/>
                  </a:lnTo>
                  <a:cubicBezTo>
                    <a:pt x="6538214" y="0"/>
                    <a:pt x="7065391" y="527177"/>
                    <a:pt x="7065391" y="1177544"/>
                  </a:cubicBezTo>
                  <a:lnTo>
                    <a:pt x="7065391" y="7809485"/>
                  </a:lnTo>
                  <a:cubicBezTo>
                    <a:pt x="7065391" y="8459851"/>
                    <a:pt x="6538214" y="8987028"/>
                    <a:pt x="5887847" y="8987028"/>
                  </a:cubicBezTo>
                  <a:lnTo>
                    <a:pt x="1177544" y="8987028"/>
                  </a:lnTo>
                  <a:cubicBezTo>
                    <a:pt x="527177" y="8987155"/>
                    <a:pt x="0" y="8459978"/>
                    <a:pt x="0" y="7809611"/>
                  </a:cubicBezTo>
                  <a:close/>
                </a:path>
              </a:pathLst>
            </a:custGeom>
            <a:solidFill>
              <a:srgbClr val="FFFFFF"/>
            </a:solidFill>
            <a:ln w="14299" cap="sq">
              <a:solidFill>
                <a:srgbClr val="E6DCED"/>
              </a:solidFill>
              <a:prstDash val="solid"/>
              <a:miter/>
            </a:ln>
          </p:spPr>
        </p:sp>
      </p:grpSp>
      <p:sp>
        <p:nvSpPr>
          <p:cNvPr name="TextBox 9" id="9"/>
          <p:cNvSpPr txBox="true"/>
          <p:nvPr/>
        </p:nvSpPr>
        <p:spPr>
          <a:xfrm rot="0">
            <a:off x="1326842" y="2312584"/>
            <a:ext cx="572091" cy="524304"/>
          </a:xfrm>
          <a:prstGeom prst="rect">
            <a:avLst/>
          </a:prstGeom>
        </p:spPr>
        <p:txBody>
          <a:bodyPr anchor="t" rtlCol="false" tIns="0" lIns="0" bIns="0" rIns="0">
            <a:spAutoFit/>
          </a:bodyPr>
          <a:lstStyle/>
          <a:p>
            <a:pPr algn="l">
              <a:lnSpc>
                <a:spcPts val="3782"/>
              </a:lnSpc>
            </a:pPr>
            <a:r>
              <a:rPr lang="en-US" sz="3152">
                <a:solidFill>
                  <a:srgbClr val="000000"/>
                </a:solidFill>
                <a:latin typeface="Calibri (MS)"/>
                <a:ea typeface="Calibri (MS)"/>
                <a:cs typeface="Calibri (MS)"/>
                <a:sym typeface="Calibri (MS)"/>
              </a:rPr>
              <a:t>🧪</a:t>
            </a:r>
          </a:p>
        </p:txBody>
      </p:sp>
      <p:sp>
        <p:nvSpPr>
          <p:cNvPr name="TextBox 10" id="10"/>
          <p:cNvSpPr txBox="true"/>
          <p:nvPr/>
        </p:nvSpPr>
        <p:spPr>
          <a:xfrm rot="0">
            <a:off x="1326842" y="2957741"/>
            <a:ext cx="4552836" cy="523875"/>
          </a:xfrm>
          <a:prstGeom prst="rect">
            <a:avLst/>
          </a:prstGeom>
        </p:spPr>
        <p:txBody>
          <a:bodyPr anchor="t" rtlCol="false" tIns="0" lIns="0" bIns="0" rIns="0">
            <a:spAutoFit/>
          </a:bodyPr>
          <a:lstStyle/>
          <a:p>
            <a:pPr algn="l">
              <a:lnSpc>
                <a:spcPts val="3600"/>
              </a:lnSpc>
            </a:pPr>
            <a:r>
              <a:rPr lang="en-US" sz="3000" b="true">
                <a:solidFill>
                  <a:srgbClr val="D33078"/>
                </a:solidFill>
                <a:latin typeface="Calibri (MS) Bold"/>
                <a:ea typeface="Calibri (MS) Bold"/>
                <a:cs typeface="Calibri (MS) Bold"/>
                <a:sym typeface="Calibri (MS) Bold"/>
              </a:rPr>
              <a:t>Synthetic data</a:t>
            </a:r>
          </a:p>
        </p:txBody>
      </p:sp>
      <p:sp>
        <p:nvSpPr>
          <p:cNvPr name="TextBox 11" id="11"/>
          <p:cNvSpPr txBox="true"/>
          <p:nvPr/>
        </p:nvSpPr>
        <p:spPr>
          <a:xfrm rot="0">
            <a:off x="1326842" y="3712712"/>
            <a:ext cx="4552836" cy="2352675"/>
          </a:xfrm>
          <a:prstGeom prst="rect">
            <a:avLst/>
          </a:prstGeom>
        </p:spPr>
        <p:txBody>
          <a:bodyPr anchor="t" rtlCol="false" tIns="0" lIns="0" bIns="0" rIns="0">
            <a:spAutoFit/>
          </a:bodyPr>
          <a:lstStyle/>
          <a:p>
            <a:pPr algn="l">
              <a:lnSpc>
                <a:spcPts val="3600"/>
              </a:lnSpc>
            </a:pPr>
            <a:r>
              <a:rPr lang="en-US" sz="3000">
                <a:solidFill>
                  <a:srgbClr val="000000"/>
                </a:solidFill>
                <a:latin typeface="Calibri (MS)"/>
                <a:ea typeface="Calibri (MS)"/>
                <a:cs typeface="Calibri (MS)"/>
                <a:sym typeface="Calibri (MS)"/>
              </a:rPr>
              <a:t>The ML dataset is synthetic. Performance on this dataset should not be interpreted as clinical performance on real-world patients.</a:t>
            </a:r>
          </a:p>
        </p:txBody>
      </p:sp>
      <p:grpSp>
        <p:nvGrpSpPr>
          <p:cNvPr name="Group 12" id="12"/>
          <p:cNvGrpSpPr/>
          <p:nvPr/>
        </p:nvGrpSpPr>
        <p:grpSpPr>
          <a:xfrm rot="0">
            <a:off x="6513043" y="2120494"/>
            <a:ext cx="5299091" cy="6740395"/>
            <a:chOff x="0" y="0"/>
            <a:chExt cx="7065454" cy="8987193"/>
          </a:xfrm>
        </p:grpSpPr>
        <p:sp>
          <p:nvSpPr>
            <p:cNvPr name="Freeform 13" id="13"/>
            <p:cNvSpPr/>
            <p:nvPr/>
          </p:nvSpPr>
          <p:spPr>
            <a:xfrm flipH="false" flipV="false" rot="0">
              <a:off x="0" y="0"/>
              <a:ext cx="7065391" cy="8987028"/>
            </a:xfrm>
            <a:custGeom>
              <a:avLst/>
              <a:gdLst/>
              <a:ahLst/>
              <a:cxnLst/>
              <a:rect r="r" b="b" t="t" l="l"/>
              <a:pathLst>
                <a:path h="8987028" w="7065391">
                  <a:moveTo>
                    <a:pt x="0" y="1177544"/>
                  </a:moveTo>
                  <a:cubicBezTo>
                    <a:pt x="0" y="527177"/>
                    <a:pt x="527177" y="0"/>
                    <a:pt x="1177544" y="0"/>
                  </a:cubicBezTo>
                  <a:lnTo>
                    <a:pt x="5887847" y="0"/>
                  </a:lnTo>
                  <a:cubicBezTo>
                    <a:pt x="6538214" y="0"/>
                    <a:pt x="7065391" y="527177"/>
                    <a:pt x="7065391" y="1177544"/>
                  </a:cubicBezTo>
                  <a:lnTo>
                    <a:pt x="7065391" y="7809485"/>
                  </a:lnTo>
                  <a:cubicBezTo>
                    <a:pt x="7065391" y="8459851"/>
                    <a:pt x="6538214" y="8987028"/>
                    <a:pt x="5887847" y="8987028"/>
                  </a:cubicBezTo>
                  <a:lnTo>
                    <a:pt x="1177544" y="8987028"/>
                  </a:lnTo>
                  <a:cubicBezTo>
                    <a:pt x="527177" y="8987155"/>
                    <a:pt x="0" y="8459978"/>
                    <a:pt x="0" y="7809611"/>
                  </a:cubicBezTo>
                  <a:close/>
                </a:path>
              </a:pathLst>
            </a:custGeom>
            <a:solidFill>
              <a:srgbClr val="FFFFFF"/>
            </a:solidFill>
            <a:ln w="14299" cap="sq">
              <a:solidFill>
                <a:srgbClr val="E6DCED"/>
              </a:solidFill>
              <a:prstDash val="solid"/>
              <a:miter/>
            </a:ln>
          </p:spPr>
        </p:sp>
      </p:grpSp>
      <p:sp>
        <p:nvSpPr>
          <p:cNvPr name="TextBox 14" id="14"/>
          <p:cNvSpPr txBox="true"/>
          <p:nvPr/>
        </p:nvSpPr>
        <p:spPr>
          <a:xfrm rot="0">
            <a:off x="6886165" y="2312584"/>
            <a:ext cx="572091" cy="524304"/>
          </a:xfrm>
          <a:prstGeom prst="rect">
            <a:avLst/>
          </a:prstGeom>
        </p:spPr>
        <p:txBody>
          <a:bodyPr anchor="t" rtlCol="false" tIns="0" lIns="0" bIns="0" rIns="0">
            <a:spAutoFit/>
          </a:bodyPr>
          <a:lstStyle/>
          <a:p>
            <a:pPr algn="l">
              <a:lnSpc>
                <a:spcPts val="3782"/>
              </a:lnSpc>
            </a:pPr>
            <a:r>
              <a:rPr lang="en-US" sz="3152">
                <a:solidFill>
                  <a:srgbClr val="000000"/>
                </a:solidFill>
                <a:latin typeface="Calibri (MS)"/>
                <a:ea typeface="Calibri (MS)"/>
                <a:cs typeface="Calibri (MS)"/>
                <a:sym typeface="Calibri (MS)"/>
              </a:rPr>
              <a:t>🩺</a:t>
            </a:r>
          </a:p>
        </p:txBody>
      </p:sp>
      <p:sp>
        <p:nvSpPr>
          <p:cNvPr name="TextBox 15" id="15"/>
          <p:cNvSpPr txBox="true"/>
          <p:nvPr/>
        </p:nvSpPr>
        <p:spPr>
          <a:xfrm rot="0">
            <a:off x="6886165" y="2957741"/>
            <a:ext cx="4552836" cy="523875"/>
          </a:xfrm>
          <a:prstGeom prst="rect">
            <a:avLst/>
          </a:prstGeom>
        </p:spPr>
        <p:txBody>
          <a:bodyPr anchor="t" rtlCol="false" tIns="0" lIns="0" bIns="0" rIns="0">
            <a:spAutoFit/>
          </a:bodyPr>
          <a:lstStyle/>
          <a:p>
            <a:pPr algn="l">
              <a:lnSpc>
                <a:spcPts val="3600"/>
              </a:lnSpc>
            </a:pPr>
            <a:r>
              <a:rPr lang="en-US" sz="3000" b="true">
                <a:solidFill>
                  <a:srgbClr val="6940A4"/>
                </a:solidFill>
                <a:latin typeface="Calibri (MS) Bold"/>
                <a:ea typeface="Calibri (MS) Bold"/>
                <a:cs typeface="Calibri (MS) Bold"/>
                <a:sym typeface="Calibri (MS) Bold"/>
              </a:rPr>
              <a:t>Not a diagnosis</a:t>
            </a:r>
          </a:p>
        </p:txBody>
      </p:sp>
      <p:sp>
        <p:nvSpPr>
          <p:cNvPr name="TextBox 16" id="16"/>
          <p:cNvSpPr txBox="true"/>
          <p:nvPr/>
        </p:nvSpPr>
        <p:spPr>
          <a:xfrm rot="0">
            <a:off x="6886165" y="3712712"/>
            <a:ext cx="4552836" cy="2352675"/>
          </a:xfrm>
          <a:prstGeom prst="rect">
            <a:avLst/>
          </a:prstGeom>
        </p:spPr>
        <p:txBody>
          <a:bodyPr anchor="t" rtlCol="false" tIns="0" lIns="0" bIns="0" rIns="0">
            <a:spAutoFit/>
          </a:bodyPr>
          <a:lstStyle/>
          <a:p>
            <a:pPr algn="l">
              <a:lnSpc>
                <a:spcPts val="3600"/>
              </a:lnSpc>
            </a:pPr>
            <a:r>
              <a:rPr lang="en-US" sz="3000">
                <a:solidFill>
                  <a:srgbClr val="000000"/>
                </a:solidFill>
                <a:latin typeface="Calibri (MS)"/>
                <a:ea typeface="Calibri (MS)"/>
                <a:cs typeface="Calibri (MS)"/>
                <a:sym typeface="Calibri (MS)"/>
              </a:rPr>
              <a:t>PJP provides educational information and preliminary risk predictions. It does not replace qualified healthcare professionals.</a:t>
            </a:r>
          </a:p>
        </p:txBody>
      </p:sp>
      <p:grpSp>
        <p:nvGrpSpPr>
          <p:cNvPr name="Group 17" id="17"/>
          <p:cNvGrpSpPr/>
          <p:nvPr/>
        </p:nvGrpSpPr>
        <p:grpSpPr>
          <a:xfrm rot="0">
            <a:off x="12072366" y="2120494"/>
            <a:ext cx="5299091" cy="6740395"/>
            <a:chOff x="0" y="0"/>
            <a:chExt cx="7065454" cy="8987193"/>
          </a:xfrm>
        </p:grpSpPr>
        <p:sp>
          <p:nvSpPr>
            <p:cNvPr name="Freeform 18" id="18"/>
            <p:cNvSpPr/>
            <p:nvPr/>
          </p:nvSpPr>
          <p:spPr>
            <a:xfrm flipH="false" flipV="false" rot="0">
              <a:off x="0" y="0"/>
              <a:ext cx="7065391" cy="8987028"/>
            </a:xfrm>
            <a:custGeom>
              <a:avLst/>
              <a:gdLst/>
              <a:ahLst/>
              <a:cxnLst/>
              <a:rect r="r" b="b" t="t" l="l"/>
              <a:pathLst>
                <a:path h="8987028" w="7065391">
                  <a:moveTo>
                    <a:pt x="0" y="1177544"/>
                  </a:moveTo>
                  <a:cubicBezTo>
                    <a:pt x="0" y="527177"/>
                    <a:pt x="527177" y="0"/>
                    <a:pt x="1177544" y="0"/>
                  </a:cubicBezTo>
                  <a:lnTo>
                    <a:pt x="5887847" y="0"/>
                  </a:lnTo>
                  <a:cubicBezTo>
                    <a:pt x="6538214" y="0"/>
                    <a:pt x="7065391" y="527177"/>
                    <a:pt x="7065391" y="1177544"/>
                  </a:cubicBezTo>
                  <a:lnTo>
                    <a:pt x="7065391" y="7809485"/>
                  </a:lnTo>
                  <a:cubicBezTo>
                    <a:pt x="7065391" y="8459851"/>
                    <a:pt x="6538214" y="8987028"/>
                    <a:pt x="5887847" y="8987028"/>
                  </a:cubicBezTo>
                  <a:lnTo>
                    <a:pt x="1177544" y="8987028"/>
                  </a:lnTo>
                  <a:cubicBezTo>
                    <a:pt x="527177" y="8987155"/>
                    <a:pt x="0" y="8459978"/>
                    <a:pt x="0" y="7809611"/>
                  </a:cubicBezTo>
                  <a:close/>
                </a:path>
              </a:pathLst>
            </a:custGeom>
            <a:solidFill>
              <a:srgbClr val="FFFFFF"/>
            </a:solidFill>
            <a:ln w="14299" cap="sq">
              <a:solidFill>
                <a:srgbClr val="E6DCED"/>
              </a:solidFill>
              <a:prstDash val="solid"/>
              <a:miter/>
            </a:ln>
          </p:spPr>
        </p:sp>
      </p:grpSp>
      <p:sp>
        <p:nvSpPr>
          <p:cNvPr name="TextBox 19" id="19"/>
          <p:cNvSpPr txBox="true"/>
          <p:nvPr/>
        </p:nvSpPr>
        <p:spPr>
          <a:xfrm rot="0">
            <a:off x="12445489" y="2312584"/>
            <a:ext cx="572091" cy="524304"/>
          </a:xfrm>
          <a:prstGeom prst="rect">
            <a:avLst/>
          </a:prstGeom>
        </p:spPr>
        <p:txBody>
          <a:bodyPr anchor="t" rtlCol="false" tIns="0" lIns="0" bIns="0" rIns="0">
            <a:spAutoFit/>
          </a:bodyPr>
          <a:lstStyle/>
          <a:p>
            <a:pPr algn="l">
              <a:lnSpc>
                <a:spcPts val="3782"/>
              </a:lnSpc>
            </a:pPr>
            <a:r>
              <a:rPr lang="en-US" sz="3152">
                <a:solidFill>
                  <a:srgbClr val="000000"/>
                </a:solidFill>
                <a:latin typeface="Calibri (MS)"/>
                <a:ea typeface="Calibri (MS)"/>
                <a:cs typeface="Calibri (MS)"/>
                <a:sym typeface="Calibri (MS)"/>
              </a:rPr>
              <a:t>🛡️</a:t>
            </a:r>
          </a:p>
        </p:txBody>
      </p:sp>
      <p:sp>
        <p:nvSpPr>
          <p:cNvPr name="TextBox 20" id="20"/>
          <p:cNvSpPr txBox="true"/>
          <p:nvPr/>
        </p:nvSpPr>
        <p:spPr>
          <a:xfrm rot="0">
            <a:off x="12445489" y="2957741"/>
            <a:ext cx="4552836" cy="523875"/>
          </a:xfrm>
          <a:prstGeom prst="rect">
            <a:avLst/>
          </a:prstGeom>
        </p:spPr>
        <p:txBody>
          <a:bodyPr anchor="t" rtlCol="false" tIns="0" lIns="0" bIns="0" rIns="0">
            <a:spAutoFit/>
          </a:bodyPr>
          <a:lstStyle/>
          <a:p>
            <a:pPr algn="l">
              <a:lnSpc>
                <a:spcPts val="3600"/>
              </a:lnSpc>
            </a:pPr>
            <a:r>
              <a:rPr lang="en-US" sz="3000" b="true">
                <a:solidFill>
                  <a:srgbClr val="26915E"/>
                </a:solidFill>
                <a:latin typeface="Calibri (MS) Bold"/>
                <a:ea typeface="Calibri (MS) Bold"/>
                <a:cs typeface="Calibri (MS) Bold"/>
                <a:sym typeface="Calibri (MS) Bold"/>
              </a:rPr>
              <a:t>Knowledge limitations</a:t>
            </a:r>
          </a:p>
        </p:txBody>
      </p:sp>
      <p:sp>
        <p:nvSpPr>
          <p:cNvPr name="TextBox 21" id="21"/>
          <p:cNvSpPr txBox="true"/>
          <p:nvPr/>
        </p:nvSpPr>
        <p:spPr>
          <a:xfrm rot="0">
            <a:off x="12445489" y="3712712"/>
            <a:ext cx="4552836" cy="2352675"/>
          </a:xfrm>
          <a:prstGeom prst="rect">
            <a:avLst/>
          </a:prstGeom>
        </p:spPr>
        <p:txBody>
          <a:bodyPr anchor="t" rtlCol="false" tIns="0" lIns="0" bIns="0" rIns="0">
            <a:spAutoFit/>
          </a:bodyPr>
          <a:lstStyle/>
          <a:p>
            <a:pPr algn="l">
              <a:lnSpc>
                <a:spcPts val="3600"/>
              </a:lnSpc>
            </a:pPr>
            <a:r>
              <a:rPr lang="en-US" sz="3000">
                <a:solidFill>
                  <a:srgbClr val="000000"/>
                </a:solidFill>
                <a:latin typeface="Calibri (MS)"/>
                <a:ea typeface="Calibri (MS)"/>
                <a:cs typeface="Calibri (MS)"/>
                <a:sym typeface="Calibri (MS)"/>
              </a:rPr>
              <a:t>The chatbot is constrained by retrieved knowledge. When information is insufficient, it should not fabricate an answer.</a:t>
            </a:r>
          </a:p>
        </p:txBody>
      </p:sp>
      <p:sp>
        <p:nvSpPr>
          <p:cNvPr name="TextBox 22" id="22"/>
          <p:cNvSpPr txBox="true"/>
          <p:nvPr/>
        </p:nvSpPr>
        <p:spPr>
          <a:xfrm rot="0">
            <a:off x="16151704" y="9735664"/>
            <a:ext cx="915257" cy="280302"/>
          </a:xfrm>
          <a:prstGeom prst="rect">
            <a:avLst/>
          </a:prstGeom>
        </p:spPr>
        <p:txBody>
          <a:bodyPr anchor="t" rtlCol="false" tIns="0" lIns="0" bIns="0" rIns="0">
            <a:spAutoFit/>
          </a:bodyPr>
          <a:lstStyle/>
          <a:p>
            <a:pPr algn="r">
              <a:lnSpc>
                <a:spcPts val="1621"/>
              </a:lnSpc>
            </a:pPr>
            <a:r>
              <a:rPr lang="en-US" sz="1351">
                <a:solidFill>
                  <a:srgbClr val="6E6574"/>
                </a:solidFill>
                <a:latin typeface="Calibri (MS)"/>
                <a:ea typeface="Calibri (MS)"/>
                <a:cs typeface="Calibri (MS)"/>
                <a:sym typeface="Calibri (MS)"/>
              </a:rPr>
              <a:t>12</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1F8"/>
            </a:solidFill>
          </p:spPr>
        </p:sp>
      </p:grpSp>
      <p:grpSp>
        <p:nvGrpSpPr>
          <p:cNvPr name="Group 4" id="4"/>
          <p:cNvGrpSpPr/>
          <p:nvPr/>
        </p:nvGrpSpPr>
        <p:grpSpPr>
          <a:xfrm rot="0">
            <a:off x="0" y="0"/>
            <a:ext cx="18301840" cy="164725"/>
            <a:chOff x="0" y="0"/>
            <a:chExt cx="24402453" cy="219634"/>
          </a:xfrm>
        </p:grpSpPr>
        <p:sp>
          <p:nvSpPr>
            <p:cNvPr name="Freeform 5" id="5"/>
            <p:cNvSpPr/>
            <p:nvPr/>
          </p:nvSpPr>
          <p:spPr>
            <a:xfrm flipH="false" flipV="false" rot="0">
              <a:off x="0" y="0"/>
              <a:ext cx="24402414" cy="219583"/>
            </a:xfrm>
            <a:custGeom>
              <a:avLst/>
              <a:gdLst/>
              <a:ahLst/>
              <a:cxnLst/>
              <a:rect r="r" b="b" t="t" l="l"/>
              <a:pathLst>
                <a:path h="219583" w="24402414">
                  <a:moveTo>
                    <a:pt x="0" y="0"/>
                  </a:moveTo>
                  <a:lnTo>
                    <a:pt x="24402414" y="0"/>
                  </a:lnTo>
                  <a:lnTo>
                    <a:pt x="24402414" y="219583"/>
                  </a:lnTo>
                  <a:lnTo>
                    <a:pt x="0" y="219583"/>
                  </a:lnTo>
                  <a:close/>
                </a:path>
              </a:pathLst>
            </a:custGeom>
            <a:solidFill>
              <a:srgbClr val="D33078"/>
            </a:solidFill>
          </p:spPr>
        </p:sp>
      </p:grpSp>
      <p:sp>
        <p:nvSpPr>
          <p:cNvPr name="TextBox 6" id="6"/>
          <p:cNvSpPr txBox="true"/>
          <p:nvPr/>
        </p:nvSpPr>
        <p:spPr>
          <a:xfrm rot="0">
            <a:off x="1464116" y="1637738"/>
            <a:ext cx="15328316" cy="1405061"/>
          </a:xfrm>
          <a:prstGeom prst="rect">
            <a:avLst/>
          </a:prstGeom>
        </p:spPr>
        <p:txBody>
          <a:bodyPr anchor="t" rtlCol="false" tIns="0" lIns="0" bIns="0" rIns="0">
            <a:spAutoFit/>
          </a:bodyPr>
          <a:lstStyle/>
          <a:p>
            <a:pPr algn="ctr">
              <a:lnSpc>
                <a:spcPts val="7205"/>
              </a:lnSpc>
            </a:pPr>
            <a:r>
              <a:rPr lang="en-US" sz="6004" b="true">
                <a:solidFill>
                  <a:srgbClr val="301948"/>
                </a:solidFill>
                <a:latin typeface="Calibri (MS) Bold"/>
                <a:ea typeface="Calibri (MS) Bold"/>
                <a:cs typeface="Calibri (MS) Bold"/>
                <a:sym typeface="Calibri (MS) Bold"/>
              </a:rPr>
              <a:t>Conclusion</a:t>
            </a:r>
          </a:p>
        </p:txBody>
      </p:sp>
      <p:sp>
        <p:nvSpPr>
          <p:cNvPr name="TextBox 7" id="7"/>
          <p:cNvSpPr txBox="true"/>
          <p:nvPr/>
        </p:nvSpPr>
        <p:spPr>
          <a:xfrm rot="0">
            <a:off x="1738646" y="3176254"/>
            <a:ext cx="14779247" cy="1055370"/>
          </a:xfrm>
          <a:prstGeom prst="rect">
            <a:avLst/>
          </a:prstGeom>
        </p:spPr>
        <p:txBody>
          <a:bodyPr anchor="t" rtlCol="false" tIns="0" lIns="0" bIns="0" rIns="0">
            <a:spAutoFit/>
          </a:bodyPr>
          <a:lstStyle/>
          <a:p>
            <a:pPr algn="ctr">
              <a:lnSpc>
                <a:spcPts val="3990"/>
              </a:lnSpc>
            </a:pPr>
            <a:r>
              <a:rPr lang="en-US" sz="3000">
                <a:solidFill>
                  <a:srgbClr val="000000"/>
                </a:solidFill>
                <a:latin typeface="Calibri (MS)"/>
                <a:ea typeface="Calibri (MS)"/>
                <a:cs typeface="Calibri (MS)"/>
                <a:sym typeface="Calibri (MS)"/>
              </a:rPr>
              <a:t>Pregnancy Journey Partner demonstrates how machine learning and retrieval-augmented generation can be combined in one educational maternal-health application.</a:t>
            </a:r>
          </a:p>
        </p:txBody>
      </p:sp>
      <p:grpSp>
        <p:nvGrpSpPr>
          <p:cNvPr name="Group 8" id="8"/>
          <p:cNvGrpSpPr/>
          <p:nvPr/>
        </p:nvGrpSpPr>
        <p:grpSpPr>
          <a:xfrm rot="0">
            <a:off x="2738199" y="5399218"/>
            <a:ext cx="12780150" cy="2702128"/>
            <a:chOff x="0" y="0"/>
            <a:chExt cx="17040200" cy="3602838"/>
          </a:xfrm>
        </p:grpSpPr>
        <p:sp>
          <p:nvSpPr>
            <p:cNvPr name="Freeform 9" id="9"/>
            <p:cNvSpPr/>
            <p:nvPr/>
          </p:nvSpPr>
          <p:spPr>
            <a:xfrm flipH="false" flipV="false" rot="0">
              <a:off x="0" y="0"/>
              <a:ext cx="17040225" cy="3602739"/>
            </a:xfrm>
            <a:custGeom>
              <a:avLst/>
              <a:gdLst/>
              <a:ahLst/>
              <a:cxnLst/>
              <a:rect r="r" b="b" t="t" l="l"/>
              <a:pathLst>
                <a:path h="3602739" w="17040225">
                  <a:moveTo>
                    <a:pt x="0" y="600498"/>
                  </a:moveTo>
                  <a:cubicBezTo>
                    <a:pt x="0" y="268950"/>
                    <a:pt x="138049" y="0"/>
                    <a:pt x="308229" y="0"/>
                  </a:cubicBezTo>
                  <a:lnTo>
                    <a:pt x="16731996" y="0"/>
                  </a:lnTo>
                  <a:cubicBezTo>
                    <a:pt x="16902176" y="0"/>
                    <a:pt x="17040225" y="268950"/>
                    <a:pt x="17040225" y="600498"/>
                  </a:cubicBezTo>
                  <a:lnTo>
                    <a:pt x="17040225" y="3002241"/>
                  </a:lnTo>
                  <a:cubicBezTo>
                    <a:pt x="17040225" y="3333789"/>
                    <a:pt x="16902176" y="3602739"/>
                    <a:pt x="16731996" y="3602739"/>
                  </a:cubicBezTo>
                  <a:lnTo>
                    <a:pt x="308229" y="3602739"/>
                  </a:lnTo>
                  <a:cubicBezTo>
                    <a:pt x="138049" y="3602739"/>
                    <a:pt x="0" y="3334036"/>
                    <a:pt x="0" y="3002241"/>
                  </a:cubicBezTo>
                  <a:close/>
                </a:path>
              </a:pathLst>
            </a:custGeom>
            <a:solidFill>
              <a:srgbClr val="FFFFFF"/>
            </a:solidFill>
            <a:ln w="14299" cap="sq">
              <a:solidFill>
                <a:srgbClr val="E6DCED"/>
              </a:solidFill>
              <a:prstDash val="solid"/>
              <a:miter/>
            </a:ln>
          </p:spPr>
        </p:sp>
      </p:grpSp>
      <p:sp>
        <p:nvSpPr>
          <p:cNvPr name="TextBox 10" id="10"/>
          <p:cNvSpPr txBox="true"/>
          <p:nvPr/>
        </p:nvSpPr>
        <p:spPr>
          <a:xfrm rot="0">
            <a:off x="7997693" y="5603257"/>
            <a:ext cx="12033904" cy="523875"/>
          </a:xfrm>
          <a:prstGeom prst="rect">
            <a:avLst/>
          </a:prstGeom>
        </p:spPr>
        <p:txBody>
          <a:bodyPr anchor="t" rtlCol="false" tIns="0" lIns="0" bIns="0" rIns="0">
            <a:spAutoFit/>
          </a:bodyPr>
          <a:lstStyle/>
          <a:p>
            <a:pPr algn="l">
              <a:lnSpc>
                <a:spcPts val="3600"/>
              </a:lnSpc>
            </a:pPr>
            <a:r>
              <a:rPr lang="en-US" sz="3000" b="true">
                <a:solidFill>
                  <a:srgbClr val="D33078"/>
                </a:solidFill>
                <a:latin typeface="Calibri (MS) Bold"/>
                <a:ea typeface="Calibri (MS) Bold"/>
                <a:cs typeface="Calibri (MS) Bold"/>
                <a:sym typeface="Calibri (MS) Bold"/>
              </a:rPr>
              <a:t>Final message</a:t>
            </a:r>
          </a:p>
        </p:txBody>
      </p:sp>
      <p:sp>
        <p:nvSpPr>
          <p:cNvPr name="TextBox 11" id="11"/>
          <p:cNvSpPr txBox="true"/>
          <p:nvPr/>
        </p:nvSpPr>
        <p:spPr>
          <a:xfrm rot="0">
            <a:off x="16151704" y="9735664"/>
            <a:ext cx="915257" cy="280302"/>
          </a:xfrm>
          <a:prstGeom prst="rect">
            <a:avLst/>
          </a:prstGeom>
        </p:spPr>
        <p:txBody>
          <a:bodyPr anchor="t" rtlCol="false" tIns="0" lIns="0" bIns="0" rIns="0">
            <a:spAutoFit/>
          </a:bodyPr>
          <a:lstStyle/>
          <a:p>
            <a:pPr algn="r">
              <a:lnSpc>
                <a:spcPts val="1621"/>
              </a:lnSpc>
            </a:pPr>
            <a:r>
              <a:rPr lang="en-US" sz="1351">
                <a:solidFill>
                  <a:srgbClr val="6E6574"/>
                </a:solidFill>
                <a:latin typeface="Calibri (MS)"/>
                <a:ea typeface="Calibri (MS)"/>
                <a:cs typeface="Calibri (MS)"/>
                <a:sym typeface="Calibri (MS)"/>
              </a:rPr>
              <a:t>13</a:t>
            </a:r>
          </a:p>
        </p:txBody>
      </p:sp>
      <p:sp>
        <p:nvSpPr>
          <p:cNvPr name="TextBox 12" id="12"/>
          <p:cNvSpPr txBox="true"/>
          <p:nvPr/>
        </p:nvSpPr>
        <p:spPr>
          <a:xfrm rot="0">
            <a:off x="3951218" y="6174972"/>
            <a:ext cx="14779247" cy="1055370"/>
          </a:xfrm>
          <a:prstGeom prst="rect">
            <a:avLst/>
          </a:prstGeom>
        </p:spPr>
        <p:txBody>
          <a:bodyPr anchor="t" rtlCol="false" tIns="0" lIns="0" bIns="0" rIns="0">
            <a:spAutoFit/>
          </a:bodyPr>
          <a:lstStyle/>
          <a:p>
            <a:pPr algn="l">
              <a:lnSpc>
                <a:spcPts val="3990"/>
              </a:lnSpc>
            </a:pPr>
            <a:r>
              <a:rPr lang="en-US" sz="3000">
                <a:solidFill>
                  <a:srgbClr val="000000"/>
                </a:solidFill>
                <a:latin typeface="Calibri (MS)"/>
                <a:ea typeface="Calibri (MS)"/>
                <a:cs typeface="Calibri (MS)"/>
                <a:sym typeface="Calibri (MS)"/>
              </a:rPr>
              <a:t>AI can support maternal-health education and preliminary screening </a:t>
            </a:r>
          </a:p>
          <a:p>
            <a:pPr algn="l">
              <a:lnSpc>
                <a:spcPts val="3990"/>
              </a:lnSpc>
            </a:pPr>
            <a:r>
              <a:rPr lang="en-US" sz="3000">
                <a:solidFill>
                  <a:srgbClr val="000000"/>
                </a:solidFill>
                <a:latin typeface="Calibri (MS)"/>
                <a:ea typeface="Calibri (MS)"/>
                <a:cs typeface="Calibri (MS)"/>
                <a:sym typeface="Calibri (MS)"/>
              </a:rPr>
              <a:t>while clinical decisions remain with qualified healthcare professionals.</a:t>
            </a:r>
          </a:p>
        </p:txBody>
      </p:sp>
      <p:sp>
        <p:nvSpPr>
          <p:cNvPr name="TextBox 13" id="13"/>
          <p:cNvSpPr txBox="true"/>
          <p:nvPr/>
        </p:nvSpPr>
        <p:spPr>
          <a:xfrm rot="0">
            <a:off x="1710071" y="8861403"/>
            <a:ext cx="15328316" cy="1038225"/>
          </a:xfrm>
          <a:prstGeom prst="rect">
            <a:avLst/>
          </a:prstGeom>
        </p:spPr>
        <p:txBody>
          <a:bodyPr anchor="t" rtlCol="false" tIns="0" lIns="0" bIns="0" rIns="0">
            <a:spAutoFit/>
          </a:bodyPr>
          <a:lstStyle/>
          <a:p>
            <a:pPr algn="ctr">
              <a:lnSpc>
                <a:spcPts val="7205"/>
              </a:lnSpc>
            </a:pPr>
            <a:r>
              <a:rPr lang="en-US" b="true" sz="6004">
                <a:solidFill>
                  <a:srgbClr val="D33078"/>
                </a:solidFill>
                <a:latin typeface="Calibri (MS) Bold"/>
                <a:ea typeface="Calibri (MS) Bold"/>
                <a:cs typeface="Calibri (MS) Bold"/>
                <a:sym typeface="Calibri (MS) Bold"/>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DAHR5xtWv0U</dc:identifier>
  <dcterms:modified xsi:type="dcterms:W3CDTF">2011-08-01T06:04:30Z</dcterms:modified>
  <cp:revision>1</cp:revision>
  <dc:title>Pregnancy_Journey_Partner_Presentation.pptx</dc:title>
</cp:coreProperties>
</file>